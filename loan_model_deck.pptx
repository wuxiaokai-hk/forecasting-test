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>
                <a:solidFill>
                  <a:srgbClr val="4A5866"/>
                </a:solidFill>
              </a:rPr>
              <a:t>Reported loan balance ($ billions)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 balance</c:v>
                </c:pt>
              </c:strCache>
            </c:strRef>
          </c:tx>
          <c:spPr>
            <a:ln w="28575">
              <a:solidFill>
                <a:srgbClr val="1F6F8B"/>
              </a:solidFill>
            </a:ln>
          </c:spPr>
          <c:marker>
            <c:symbol val="none"/>
            <c:size val="5"/>
            <c:spPr>
              <a:solidFill>
                <a:srgbClr val="1F6F8B"/>
              </a:solidFill>
              <a:ln>
                <a:noFill/>
              </a:ln>
            </c:spPr>
          </c:marker>
          <c:cat>
            <c:strRef>
              <c:f>Sheet1!$A$2:$A$105</c:f>
              <c:strCache>
                <c:ptCount val="104"/>
                <c:pt idx="0">
                  <c:v>2000Q1</c:v>
                </c:pt>
                <c:pt idx="1">
                  <c:v>2000Q2</c:v>
                </c:pt>
                <c:pt idx="2">
                  <c:v>2000Q3</c:v>
                </c:pt>
                <c:pt idx="3">
                  <c:v>2000Q4</c:v>
                </c:pt>
                <c:pt idx="4">
                  <c:v>2001Q1</c:v>
                </c:pt>
                <c:pt idx="5">
                  <c:v>2001Q2</c:v>
                </c:pt>
                <c:pt idx="6">
                  <c:v>2001Q3</c:v>
                </c:pt>
                <c:pt idx="7">
                  <c:v>2001Q4</c:v>
                </c:pt>
                <c:pt idx="8">
                  <c:v>2002Q1</c:v>
                </c:pt>
                <c:pt idx="9">
                  <c:v>2002Q2</c:v>
                </c:pt>
                <c:pt idx="10">
                  <c:v>2002Q3</c:v>
                </c:pt>
                <c:pt idx="11">
                  <c:v>2002Q4</c:v>
                </c:pt>
                <c:pt idx="12">
                  <c:v>2003Q1</c:v>
                </c:pt>
                <c:pt idx="13">
                  <c:v>2003Q2</c:v>
                </c:pt>
                <c:pt idx="14">
                  <c:v>2003Q3</c:v>
                </c:pt>
                <c:pt idx="15">
                  <c:v>2003Q4</c:v>
                </c:pt>
                <c:pt idx="16">
                  <c:v>2004Q1</c:v>
                </c:pt>
                <c:pt idx="17">
                  <c:v>2004Q2</c:v>
                </c:pt>
                <c:pt idx="18">
                  <c:v>2004Q3</c:v>
                </c:pt>
                <c:pt idx="19">
                  <c:v>2004Q4</c:v>
                </c:pt>
                <c:pt idx="20">
                  <c:v>2005Q1</c:v>
                </c:pt>
                <c:pt idx="21">
                  <c:v>2005Q2</c:v>
                </c:pt>
                <c:pt idx="22">
                  <c:v>2005Q3</c:v>
                </c:pt>
                <c:pt idx="23">
                  <c:v>2005Q4</c:v>
                </c:pt>
                <c:pt idx="24">
                  <c:v>2006Q1</c:v>
                </c:pt>
                <c:pt idx="25">
                  <c:v>2006Q2</c:v>
                </c:pt>
                <c:pt idx="26">
                  <c:v>2006Q3</c:v>
                </c:pt>
                <c:pt idx="27">
                  <c:v>2006Q4</c:v>
                </c:pt>
                <c:pt idx="28">
                  <c:v>2007Q1</c:v>
                </c:pt>
                <c:pt idx="29">
                  <c:v>2007Q2</c:v>
                </c:pt>
                <c:pt idx="30">
                  <c:v>2007Q3</c:v>
                </c:pt>
                <c:pt idx="31">
                  <c:v>2007Q4</c:v>
                </c:pt>
                <c:pt idx="32">
                  <c:v>2008Q1</c:v>
                </c:pt>
                <c:pt idx="33">
                  <c:v>2008Q2</c:v>
                </c:pt>
                <c:pt idx="34">
                  <c:v>2008Q3</c:v>
                </c:pt>
                <c:pt idx="35">
                  <c:v>2008Q4</c:v>
                </c:pt>
                <c:pt idx="36">
                  <c:v>2009Q1</c:v>
                </c:pt>
                <c:pt idx="37">
                  <c:v>2009Q2</c:v>
                </c:pt>
                <c:pt idx="38">
                  <c:v>2009Q3</c:v>
                </c:pt>
                <c:pt idx="39">
                  <c:v>2009Q4</c:v>
                </c:pt>
                <c:pt idx="40">
                  <c:v>2010Q1</c:v>
                </c:pt>
                <c:pt idx="41">
                  <c:v>2010Q2</c:v>
                </c:pt>
                <c:pt idx="42">
                  <c:v>2010Q3</c:v>
                </c:pt>
                <c:pt idx="43">
                  <c:v>2010Q4</c:v>
                </c:pt>
                <c:pt idx="44">
                  <c:v>2011Q1</c:v>
                </c:pt>
                <c:pt idx="45">
                  <c:v>2011Q2</c:v>
                </c:pt>
                <c:pt idx="46">
                  <c:v>2011Q3</c:v>
                </c:pt>
                <c:pt idx="47">
                  <c:v>2011Q4</c:v>
                </c:pt>
                <c:pt idx="48">
                  <c:v>2012Q1</c:v>
                </c:pt>
                <c:pt idx="49">
                  <c:v>2012Q2</c:v>
                </c:pt>
                <c:pt idx="50">
                  <c:v>2012Q3</c:v>
                </c:pt>
                <c:pt idx="51">
                  <c:v>2012Q4</c:v>
                </c:pt>
                <c:pt idx="52">
                  <c:v>2013Q1</c:v>
                </c:pt>
                <c:pt idx="53">
                  <c:v>2013Q2</c:v>
                </c:pt>
                <c:pt idx="54">
                  <c:v>2013Q3</c:v>
                </c:pt>
                <c:pt idx="55">
                  <c:v>2013Q4</c:v>
                </c:pt>
                <c:pt idx="56">
                  <c:v>2014Q1</c:v>
                </c:pt>
                <c:pt idx="57">
                  <c:v>2014Q2</c:v>
                </c:pt>
                <c:pt idx="58">
                  <c:v>2014Q3</c:v>
                </c:pt>
                <c:pt idx="59">
                  <c:v>2014Q4</c:v>
                </c:pt>
                <c:pt idx="60">
                  <c:v>2015Q1</c:v>
                </c:pt>
                <c:pt idx="61">
                  <c:v>2015Q2</c:v>
                </c:pt>
                <c:pt idx="62">
                  <c:v>2015Q3</c:v>
                </c:pt>
                <c:pt idx="63">
                  <c:v>2015Q4</c:v>
                </c:pt>
                <c:pt idx="64">
                  <c:v>2016Q1</c:v>
                </c:pt>
                <c:pt idx="65">
                  <c:v>2016Q2</c:v>
                </c:pt>
                <c:pt idx="66">
                  <c:v>2016Q3</c:v>
                </c:pt>
                <c:pt idx="67">
                  <c:v>2016Q4</c:v>
                </c:pt>
                <c:pt idx="68">
                  <c:v>2017Q1</c:v>
                </c:pt>
                <c:pt idx="69">
                  <c:v>2017Q2</c:v>
                </c:pt>
                <c:pt idx="70">
                  <c:v>2017Q3</c:v>
                </c:pt>
                <c:pt idx="71">
                  <c:v>2017Q4</c:v>
                </c:pt>
                <c:pt idx="72">
                  <c:v>2018Q1</c:v>
                </c:pt>
                <c:pt idx="73">
                  <c:v>2018Q2</c:v>
                </c:pt>
                <c:pt idx="74">
                  <c:v>2018Q3</c:v>
                </c:pt>
                <c:pt idx="75">
                  <c:v>2018Q4</c:v>
                </c:pt>
                <c:pt idx="76">
                  <c:v>2019Q1</c:v>
                </c:pt>
                <c:pt idx="77">
                  <c:v>2019Q2</c:v>
                </c:pt>
                <c:pt idx="78">
                  <c:v>2019Q3</c:v>
                </c:pt>
                <c:pt idx="79">
                  <c:v>2019Q4</c:v>
                </c:pt>
                <c:pt idx="80">
                  <c:v>2020Q1</c:v>
                </c:pt>
                <c:pt idx="81">
                  <c:v>2020Q2</c:v>
                </c:pt>
                <c:pt idx="82">
                  <c:v>2020Q3</c:v>
                </c:pt>
                <c:pt idx="83">
                  <c:v>2020Q4</c:v>
                </c:pt>
                <c:pt idx="84">
                  <c:v>2021Q1</c:v>
                </c:pt>
                <c:pt idx="85">
                  <c:v>2021Q2</c:v>
                </c:pt>
                <c:pt idx="86">
                  <c:v>2021Q3</c:v>
                </c:pt>
                <c:pt idx="87">
                  <c:v>2021Q4</c:v>
                </c:pt>
                <c:pt idx="88">
                  <c:v>2022Q1</c:v>
                </c:pt>
                <c:pt idx="89">
                  <c:v>2022Q2</c:v>
                </c:pt>
                <c:pt idx="90">
                  <c:v>2022Q3</c:v>
                </c:pt>
                <c:pt idx="91">
                  <c:v>2022Q4</c:v>
                </c:pt>
                <c:pt idx="92">
                  <c:v>2023Q1</c:v>
                </c:pt>
                <c:pt idx="93">
                  <c:v>2023Q2</c:v>
                </c:pt>
                <c:pt idx="94">
                  <c:v>2023Q3</c:v>
                </c:pt>
                <c:pt idx="95">
                  <c:v>2023Q4</c:v>
                </c:pt>
                <c:pt idx="96">
                  <c:v>2024Q1</c:v>
                </c:pt>
                <c:pt idx="97">
                  <c:v>2024Q2</c:v>
                </c:pt>
                <c:pt idx="98">
                  <c:v>2024Q3</c:v>
                </c:pt>
                <c:pt idx="99">
                  <c:v>2024Q4</c:v>
                </c:pt>
                <c:pt idx="100">
                  <c:v>2025Q1</c:v>
                </c:pt>
                <c:pt idx="101">
                  <c:v>2025Q2</c:v>
                </c:pt>
                <c:pt idx="102">
                  <c:v>2025Q3</c:v>
                </c:pt>
                <c:pt idx="103">
                  <c:v>2025Q4</c:v>
                </c:pt>
              </c:strCache>
            </c:strRef>
          </c:cat>
          <c:val>
            <c:numRef>
              <c:f>Sheet1!$B$2:$B$105</c:f>
              <c:numCache>
                <c:formatCode>0</c:formatCode>
                <c:ptCount val="104"/>
                <c:pt idx="0">
                  <c:v>52.63</c:v>
                </c:pt>
                <c:pt idx="1">
                  <c:v>53.26</c:v>
                </c:pt>
                <c:pt idx="2">
                  <c:v>53.91</c:v>
                </c:pt>
                <c:pt idx="3">
                  <c:v>54.47</c:v>
                </c:pt>
                <c:pt idx="4">
                  <c:v>55.35</c:v>
                </c:pt>
                <c:pt idx="5">
                  <c:v>55.88</c:v>
                </c:pt>
                <c:pt idx="6">
                  <c:v>56.26</c:v>
                </c:pt>
                <c:pt idx="7">
                  <c:v>57.12</c:v>
                </c:pt>
                <c:pt idx="8">
                  <c:v>57.84</c:v>
                </c:pt>
                <c:pt idx="9">
                  <c:v>58.38</c:v>
                </c:pt>
                <c:pt idx="10">
                  <c:v>58.77</c:v>
                </c:pt>
                <c:pt idx="11">
                  <c:v>59.6</c:v>
                </c:pt>
                <c:pt idx="12">
                  <c:v>60.5</c:v>
                </c:pt>
                <c:pt idx="13">
                  <c:v>61.24</c:v>
                </c:pt>
                <c:pt idx="14">
                  <c:v>62.02</c:v>
                </c:pt>
                <c:pt idx="15">
                  <c:v>62.27</c:v>
                </c:pt>
                <c:pt idx="16">
                  <c:v>62.59</c:v>
                </c:pt>
                <c:pt idx="17">
                  <c:v>63.07</c:v>
                </c:pt>
                <c:pt idx="18">
                  <c:v>63.59</c:v>
                </c:pt>
                <c:pt idx="19">
                  <c:v>64.36</c:v>
                </c:pt>
                <c:pt idx="20">
                  <c:v>64.85</c:v>
                </c:pt>
                <c:pt idx="21">
                  <c:v>65.31</c:v>
                </c:pt>
                <c:pt idx="22">
                  <c:v>66.02</c:v>
                </c:pt>
                <c:pt idx="23">
                  <c:v>66.27</c:v>
                </c:pt>
                <c:pt idx="24">
                  <c:v>66.19</c:v>
                </c:pt>
                <c:pt idx="25">
                  <c:v>66.97</c:v>
                </c:pt>
                <c:pt idx="26">
                  <c:v>67.38</c:v>
                </c:pt>
                <c:pt idx="27">
                  <c:v>68.05</c:v>
                </c:pt>
                <c:pt idx="28">
                  <c:v>68.58</c:v>
                </c:pt>
                <c:pt idx="29">
                  <c:v>69.2</c:v>
                </c:pt>
                <c:pt idx="30">
                  <c:v>69.69</c:v>
                </c:pt>
                <c:pt idx="31">
                  <c:v>70.96</c:v>
                </c:pt>
                <c:pt idx="32">
                  <c:v>72.03</c:v>
                </c:pt>
                <c:pt idx="33">
                  <c:v>72.64</c:v>
                </c:pt>
                <c:pt idx="34">
                  <c:v>73.01</c:v>
                </c:pt>
                <c:pt idx="35">
                  <c:v>73.95</c:v>
                </c:pt>
                <c:pt idx="36">
                  <c:v>74.2</c:v>
                </c:pt>
                <c:pt idx="37">
                  <c:v>74.23</c:v>
                </c:pt>
                <c:pt idx="38">
                  <c:v>75.18</c:v>
                </c:pt>
                <c:pt idx="39">
                  <c:v>75.55</c:v>
                </c:pt>
                <c:pt idx="40">
                  <c:v>76.23</c:v>
                </c:pt>
                <c:pt idx="41">
                  <c:v>77.38</c:v>
                </c:pt>
                <c:pt idx="42">
                  <c:v>77.84</c:v>
                </c:pt>
                <c:pt idx="43">
                  <c:v>78.71</c:v>
                </c:pt>
                <c:pt idx="44">
                  <c:v>79.37</c:v>
                </c:pt>
                <c:pt idx="45">
                  <c:v>80.16</c:v>
                </c:pt>
                <c:pt idx="46">
                  <c:v>80.54</c:v>
                </c:pt>
                <c:pt idx="47">
                  <c:v>80.61</c:v>
                </c:pt>
                <c:pt idx="48">
                  <c:v>81.06</c:v>
                </c:pt>
                <c:pt idx="49">
                  <c:v>81.99</c:v>
                </c:pt>
                <c:pt idx="50">
                  <c:v>82.53</c:v>
                </c:pt>
                <c:pt idx="51">
                  <c:v>83.27</c:v>
                </c:pt>
                <c:pt idx="52">
                  <c:v>84.16</c:v>
                </c:pt>
                <c:pt idx="53">
                  <c:v>85.3</c:v>
                </c:pt>
                <c:pt idx="54">
                  <c:v>86.1</c:v>
                </c:pt>
                <c:pt idx="55">
                  <c:v>87.02</c:v>
                </c:pt>
                <c:pt idx="56">
                  <c:v>87.87</c:v>
                </c:pt>
                <c:pt idx="57">
                  <c:v>88.62</c:v>
                </c:pt>
                <c:pt idx="58">
                  <c:v>95.56</c:v>
                </c:pt>
                <c:pt idx="59">
                  <c:v>96.57</c:v>
                </c:pt>
                <c:pt idx="60">
                  <c:v>97.88</c:v>
                </c:pt>
                <c:pt idx="61">
                  <c:v>99.36</c:v>
                </c:pt>
                <c:pt idx="62">
                  <c:v>100.42</c:v>
                </c:pt>
                <c:pt idx="63">
                  <c:v>101.63</c:v>
                </c:pt>
                <c:pt idx="64">
                  <c:v>103.5</c:v>
                </c:pt>
                <c:pt idx="65">
                  <c:v>105.29</c:v>
                </c:pt>
                <c:pt idx="66">
                  <c:v>106.76</c:v>
                </c:pt>
                <c:pt idx="67">
                  <c:v>108.49</c:v>
                </c:pt>
                <c:pt idx="68">
                  <c:v>110.86</c:v>
                </c:pt>
                <c:pt idx="69">
                  <c:v>113.16</c:v>
                </c:pt>
                <c:pt idx="70">
                  <c:v>113.81</c:v>
                </c:pt>
                <c:pt idx="71">
                  <c:v>114.34</c:v>
                </c:pt>
                <c:pt idx="72">
                  <c:v>114.59</c:v>
                </c:pt>
                <c:pt idx="73">
                  <c:v>114.9</c:v>
                </c:pt>
                <c:pt idx="74">
                  <c:v>115.65</c:v>
                </c:pt>
                <c:pt idx="75">
                  <c:v>117.05</c:v>
                </c:pt>
                <c:pt idx="76">
                  <c:v>118.26</c:v>
                </c:pt>
                <c:pt idx="77">
                  <c:v>119.45</c:v>
                </c:pt>
                <c:pt idx="78">
                  <c:v>121.11</c:v>
                </c:pt>
                <c:pt idx="79">
                  <c:v>122.5</c:v>
                </c:pt>
                <c:pt idx="80">
                  <c:v>124.26</c:v>
                </c:pt>
                <c:pt idx="81">
                  <c:v>124.28</c:v>
                </c:pt>
                <c:pt idx="82">
                  <c:v>123.53</c:v>
                </c:pt>
                <c:pt idx="83">
                  <c:v>126.93</c:v>
                </c:pt>
                <c:pt idx="84">
                  <c:v>129.22</c:v>
                </c:pt>
                <c:pt idx="85">
                  <c:v>131.64</c:v>
                </c:pt>
                <c:pt idx="86">
                  <c:v>134.51</c:v>
                </c:pt>
                <c:pt idx="87">
                  <c:v>137.18</c:v>
                </c:pt>
                <c:pt idx="88">
                  <c:v>139.32</c:v>
                </c:pt>
                <c:pt idx="89">
                  <c:v>141.47</c:v>
                </c:pt>
                <c:pt idx="90">
                  <c:v>142.09</c:v>
                </c:pt>
                <c:pt idx="91">
                  <c:v>143.16</c:v>
                </c:pt>
                <c:pt idx="92">
                  <c:v>144.22</c:v>
                </c:pt>
                <c:pt idx="93">
                  <c:v>144.55</c:v>
                </c:pt>
                <c:pt idx="94">
                  <c:v>145.19</c:v>
                </c:pt>
                <c:pt idx="95">
                  <c:v>146.21</c:v>
                </c:pt>
                <c:pt idx="96">
                  <c:v>146.78</c:v>
                </c:pt>
                <c:pt idx="97">
                  <c:v>148.68</c:v>
                </c:pt>
                <c:pt idx="98">
                  <c:v>149.53</c:v>
                </c:pt>
                <c:pt idx="99">
                  <c:v>150.89</c:v>
                </c:pt>
                <c:pt idx="100">
                  <c:v>152.22</c:v>
                </c:pt>
                <c:pt idx="101">
                  <c:v>153.32</c:v>
                </c:pt>
                <c:pt idx="102">
                  <c:v>154.47</c:v>
                </c:pt>
                <c:pt idx="103">
                  <c:v>156.45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tickLblSkip val="16"/>
        <c:noMultiLvlLbl val="0"/>
      </c:catAx>
      <c:valAx>
        <c:axId val="2140495176"/>
        <c:scaling>
          <c:min val="40.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Variables</c:v>
                </c:pt>
              </c:strCache>
            </c:strRef>
          </c:tx>
          <c:spPr>
            <a:solidFill>
              <a:srgbClr val="1F6F8B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4A5866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Moody's + constructed</c:v>
                </c:pt>
                <c:pt idx="1">
                  <c:v>Relevant geography &amp; theme</c:v>
                </c:pt>
                <c:pt idx="2">
                  <c:v>Stationary form</c:v>
                </c:pt>
                <c:pt idx="3">
                  <c:v>Pass the screen</c:v>
                </c:pt>
                <c:pt idx="4">
                  <c:v>Independent clusters</c:v>
                </c:pt>
                <c:pt idx="5">
                  <c:v>Shortlist</c:v>
                </c:pt>
                <c:pt idx="6">
                  <c:v>Screen-first drivers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400</c:v>
                </c:pt>
                <c:pt idx="1">
                  <c:v>142</c:v>
                </c:pt>
                <c:pt idx="2">
                  <c:v>142</c:v>
                </c:pt>
                <c:pt idx="3">
                  <c:v>98</c:v>
                </c:pt>
                <c:pt idx="4">
                  <c:v>43</c:v>
                </c:pt>
                <c:pt idx="5">
                  <c:v>25</c:v>
                </c:pt>
                <c:pt idx="6">
                  <c:v>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9E1E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>
                <a:solidFill>
                  <a:srgbClr val="4A5866"/>
                </a:solidFill>
              </a:rPr>
              <a:t>Average balance error, 1–12 quarters, re-selected at each origin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1–12 quarters</c:v>
                </c:pt>
              </c:strCache>
            </c:strRef>
          </c:tx>
          <c:spPr>
            <a:solidFill>
              <a:srgbClr val="1F6F8B"/>
            </a:solidFill>
          </c:spPr>
          <c:dPt>
            <c:idx val="0"/>
            <c:spPr>
              <a:solidFill>
                <a:srgbClr val="8796A8"/>
              </a:solidFill>
            </c:spPr>
          </c:dPt>
          <c:dPt>
            <c:idx val="1"/>
            <c:spPr>
              <a:solidFill>
                <a:srgbClr val="8796A8"/>
              </a:solidFill>
            </c:spPr>
          </c:dPt>
          <c:dPt>
            <c:idx val="2"/>
            <c:spPr>
              <a:solidFill>
                <a:srgbClr val="1F6F8B"/>
              </a:solidFill>
            </c:spPr>
          </c:dPt>
          <c:dPt>
            <c:idx val="3"/>
            <c:spPr>
              <a:solidFill>
                <a:srgbClr val="1F6F8B"/>
              </a:solidFill>
            </c:spPr>
          </c:dPt>
          <c:dPt>
            <c:idx val="4"/>
            <c:spPr>
              <a:solidFill>
                <a:srgbClr val="E3A72F"/>
              </a:solidFill>
            </c:spPr>
          </c:dPt>
          <c:dPt>
            <c:idx val="5"/>
            <c:spPr>
              <a:solidFill>
                <a:srgbClr val="E3A72F"/>
              </a:solidFill>
            </c:spPr>
          </c:dPt>
          <c:dPt>
            <c:idx val="6"/>
            <c:spPr>
              <a:solidFill>
                <a:srgbClr val="E3A72F"/>
              </a:solidFill>
            </c:spPr>
          </c:dPt>
          <c:dPt>
            <c:idx val="7"/>
            <c:spPr>
              <a:solidFill>
                <a:srgbClr val="E3A72F"/>
              </a:solidFill>
            </c:spPr>
          </c:dPt>
          <c:dPt>
            <c:idx val="8"/>
            <c:spPr>
              <a:solidFill>
                <a:srgbClr val="2E9E83"/>
              </a:solidFill>
            </c:spPr>
          </c:dPt>
          <c:dPt>
            <c:idx val="9"/>
            <c:spPr>
              <a:solidFill>
                <a:srgbClr val="2E9E83"/>
              </a:solidFill>
            </c:spPr>
          </c:dPt>
          <c:dPt>
            <c:idx val="10"/>
            <c:spPr>
              <a:solidFill>
                <a:srgbClr val="2E9E83"/>
              </a:solidFill>
            </c:spPr>
          </c:dPt>
          <c:dPt>
            <c:idx val="11"/>
            <c:spPr>
              <a:solidFill>
                <a:srgbClr val="2E9E83"/>
              </a:solidFill>
            </c:spPr>
          </c:dPt>
          <c:dPt>
            <c:idx val="12"/>
            <c:spPr>
              <a:solidFill>
                <a:srgbClr val="2E9E83"/>
              </a:solidFill>
            </c:spPr>
          </c:dPt>
          <c:dPt>
            <c:idx val="13"/>
            <c:spPr>
              <a:solidFill>
                <a:srgbClr val="5B4B8A"/>
              </a:solidFill>
            </c:spPr>
          </c:dPt>
          <c:dPt>
            <c:idx val="14"/>
            <c:spPr>
              <a:solidFill>
                <a:srgbClr val="5B4B8A"/>
              </a:solidFill>
            </c:spPr>
          </c:dPt>
          <c:dPt>
            <c:idx val="15"/>
            <c:spPr>
              <a:solidFill>
                <a:srgbClr val="5B4B8A"/>
              </a:solidFill>
            </c:spPr>
          </c:dPt>
          <c:dPt>
            <c:idx val="16"/>
            <c:spPr>
              <a:solidFill>
                <a:srgbClr val="5B4B8A"/>
              </a:solidFill>
            </c:spPr>
          </c:dPt>
          <c:dLbls>
            <c:numFmt formatCode="0.00&quot;%&quot;" sourceLinked="0"/>
            <c:txPr>
              <a:bodyPr/>
              <a:lstStyle/>
              <a:p>
                <a:pPr>
                  <a:defRPr sz="800">
                    <a:solidFill>
                      <a:srgbClr val="4A5866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AR(1) benchmark</c:v>
                </c:pt>
                <c:pt idx="1">
                  <c:v>Mean growth benchmark</c:v>
                </c:pt>
                <c:pt idx="2">
                  <c:v>Screen first</c:v>
                </c:pt>
                <c:pt idx="3">
                  <c:v>Elastic Net first</c:v>
                </c:pt>
                <c:pt idx="4">
                  <c:v>Literature: error-correction model</c:v>
                </c:pt>
                <c:pt idx="5">
                  <c:v>Literature: four-channel core</c:v>
                </c:pt>
                <c:pt idx="6">
                  <c:v>Literature: classic ARDL</c:v>
                </c:pt>
                <c:pt idx="7">
                  <c:v>Literature: ECB BEAST loan demand</c:v>
                </c:pt>
                <c:pt idx="8">
                  <c:v>Hybrid: theory long run + data short run</c:v>
                </c:pt>
                <c:pt idx="9">
                  <c:v>Hybrid: 50/50 data + theory</c:v>
                </c:pt>
                <c:pt idx="10">
                  <c:v>Hybrid: theory core + data add-ons</c:v>
                </c:pt>
                <c:pt idx="11">
                  <c:v>Hybrid: performance-weighted</c:v>
                </c:pt>
                <c:pt idx="12">
                  <c:v>Hybrid: theory channels, data measures</c:v>
                </c:pt>
                <c:pt idx="13">
                  <c:v>Gradient boosting</c:v>
                </c:pt>
                <c:pt idx="14">
                  <c:v>Random forest</c:v>
                </c:pt>
                <c:pt idx="15">
                  <c:v>Neural network (MLP)</c:v>
                </c:pt>
                <c:pt idx="16">
                  <c:v>Ridge regression</c:v>
                </c:pt>
              </c:strCache>
            </c:strRef>
          </c:cat>
          <c:val>
            <c:numRef>
              <c:f>Sheet1!$B$2:$B$18</c:f>
              <c:numCache>
                <c:formatCode>0.00"%"</c:formatCode>
                <c:ptCount val="17"/>
                <c:pt idx="0">
                  <c:v>2.092</c:v>
                </c:pt>
                <c:pt idx="1">
                  <c:v>2.118</c:v>
                </c:pt>
                <c:pt idx="2">
                  <c:v>1.366</c:v>
                </c:pt>
                <c:pt idx="3">
                  <c:v>1.609</c:v>
                </c:pt>
                <c:pt idx="4">
                  <c:v>1.098</c:v>
                </c:pt>
                <c:pt idx="5">
                  <c:v>1.113</c:v>
                </c:pt>
                <c:pt idx="6">
                  <c:v>1.119</c:v>
                </c:pt>
                <c:pt idx="7">
                  <c:v>2.251</c:v>
                </c:pt>
                <c:pt idx="8">
                  <c:v>1.019</c:v>
                </c:pt>
                <c:pt idx="9">
                  <c:v>1.117</c:v>
                </c:pt>
                <c:pt idx="10">
                  <c:v>1.126</c:v>
                </c:pt>
                <c:pt idx="11">
                  <c:v>1.127</c:v>
                </c:pt>
                <c:pt idx="12">
                  <c:v>1.782</c:v>
                </c:pt>
                <c:pt idx="13">
                  <c:v>1.1</c:v>
                </c:pt>
                <c:pt idx="14">
                  <c:v>1.176</c:v>
                </c:pt>
                <c:pt idx="15">
                  <c:v>1.187</c:v>
                </c:pt>
                <c:pt idx="16">
                  <c:v>1.255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9E1E8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>
                <a:solidFill>
                  <a:srgbClr val="4A5866"/>
                </a:solidFill>
              </a:rPr>
              <a:t>Average balance error, 1–12 quarters, drivers chosen with all the data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1–12 quarters</c:v>
                </c:pt>
              </c:strCache>
            </c:strRef>
          </c:tx>
          <c:spPr>
            <a:solidFill>
              <a:srgbClr val="1F6F8B"/>
            </a:solidFill>
          </c:spPr>
          <c:dPt>
            <c:idx val="0"/>
            <c:spPr>
              <a:solidFill>
                <a:srgbClr val="8796A8"/>
              </a:solidFill>
            </c:spPr>
          </c:dPt>
          <c:dPt>
            <c:idx val="1"/>
            <c:spPr>
              <a:solidFill>
                <a:srgbClr val="8796A8"/>
              </a:solidFill>
            </c:spPr>
          </c:dPt>
          <c:dPt>
            <c:idx val="2"/>
            <c:spPr>
              <a:solidFill>
                <a:srgbClr val="1F6F8B"/>
              </a:solidFill>
            </c:spPr>
          </c:dPt>
          <c:dPt>
            <c:idx val="3"/>
            <c:spPr>
              <a:solidFill>
                <a:srgbClr val="1F6F8B"/>
              </a:solidFill>
            </c:spPr>
          </c:dPt>
          <c:dPt>
            <c:idx val="4"/>
            <c:spPr>
              <a:solidFill>
                <a:srgbClr val="E3A72F"/>
              </a:solidFill>
            </c:spPr>
          </c:dPt>
          <c:dPt>
            <c:idx val="5"/>
            <c:spPr>
              <a:solidFill>
                <a:srgbClr val="E3A72F"/>
              </a:solidFill>
            </c:spPr>
          </c:dPt>
          <c:dPt>
            <c:idx val="6"/>
            <c:spPr>
              <a:solidFill>
                <a:srgbClr val="E3A72F"/>
              </a:solidFill>
            </c:spPr>
          </c:dPt>
          <c:dPt>
            <c:idx val="7"/>
            <c:spPr>
              <a:solidFill>
                <a:srgbClr val="E3A72F"/>
              </a:solidFill>
            </c:spPr>
          </c:dPt>
          <c:dPt>
            <c:idx val="8"/>
            <c:spPr>
              <a:solidFill>
                <a:srgbClr val="2E9E83"/>
              </a:solidFill>
            </c:spPr>
          </c:dPt>
          <c:dPt>
            <c:idx val="9"/>
            <c:spPr>
              <a:solidFill>
                <a:srgbClr val="2E9E83"/>
              </a:solidFill>
            </c:spPr>
          </c:dPt>
          <c:dPt>
            <c:idx val="10"/>
            <c:spPr>
              <a:solidFill>
                <a:srgbClr val="2E9E83"/>
              </a:solidFill>
            </c:spPr>
          </c:dPt>
          <c:dPt>
            <c:idx val="11"/>
            <c:spPr>
              <a:solidFill>
                <a:srgbClr val="2E9E83"/>
              </a:solidFill>
            </c:spPr>
          </c:dPt>
          <c:dPt>
            <c:idx val="12"/>
            <c:spPr>
              <a:solidFill>
                <a:srgbClr val="2E9E83"/>
              </a:solidFill>
            </c:spPr>
          </c:dPt>
          <c:dPt>
            <c:idx val="13"/>
            <c:spPr>
              <a:solidFill>
                <a:srgbClr val="5B4B8A"/>
              </a:solidFill>
            </c:spPr>
          </c:dPt>
          <c:dPt>
            <c:idx val="14"/>
            <c:spPr>
              <a:solidFill>
                <a:srgbClr val="5B4B8A"/>
              </a:solidFill>
            </c:spPr>
          </c:dPt>
          <c:dPt>
            <c:idx val="15"/>
            <c:spPr>
              <a:solidFill>
                <a:srgbClr val="5B4B8A"/>
              </a:solidFill>
            </c:spPr>
          </c:dPt>
          <c:dPt>
            <c:idx val="16"/>
            <c:spPr>
              <a:solidFill>
                <a:srgbClr val="5B4B8A"/>
              </a:solidFill>
            </c:spPr>
          </c:dPt>
          <c:dLbls>
            <c:numFmt formatCode="0.00&quot;%&quot;" sourceLinked="0"/>
            <c:txPr>
              <a:bodyPr/>
              <a:lstStyle/>
              <a:p>
                <a:pPr>
                  <a:defRPr sz="800">
                    <a:solidFill>
                      <a:srgbClr val="4A5866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AR(1) benchmark</c:v>
                </c:pt>
                <c:pt idx="1">
                  <c:v>Mean growth benchmark</c:v>
                </c:pt>
                <c:pt idx="2">
                  <c:v>Screen first</c:v>
                </c:pt>
                <c:pt idx="3">
                  <c:v>Elastic Net first</c:v>
                </c:pt>
                <c:pt idx="4">
                  <c:v>Literature: error-correction model</c:v>
                </c:pt>
                <c:pt idx="5">
                  <c:v>Literature: four-channel core</c:v>
                </c:pt>
                <c:pt idx="6">
                  <c:v>Literature: classic ARDL</c:v>
                </c:pt>
                <c:pt idx="7">
                  <c:v>Literature: ECB BEAST loan demand</c:v>
                </c:pt>
                <c:pt idx="8">
                  <c:v>Hybrid: 50/50 data + theory</c:v>
                </c:pt>
                <c:pt idx="9">
                  <c:v>Hybrid: performance-weighted</c:v>
                </c:pt>
                <c:pt idx="10">
                  <c:v>Hybrid: theory long run + data short run</c:v>
                </c:pt>
                <c:pt idx="11">
                  <c:v>Hybrid: theory core + data add-ons</c:v>
                </c:pt>
                <c:pt idx="12">
                  <c:v>Hybrid: theory channels, data measures</c:v>
                </c:pt>
                <c:pt idx="13">
                  <c:v>Neural network (MLP)</c:v>
                </c:pt>
                <c:pt idx="14">
                  <c:v>Gradient boosting</c:v>
                </c:pt>
                <c:pt idx="15">
                  <c:v>Ridge regression</c:v>
                </c:pt>
                <c:pt idx="16">
                  <c:v>Random forest</c:v>
                </c:pt>
              </c:strCache>
            </c:strRef>
          </c:cat>
          <c:val>
            <c:numRef>
              <c:f>Sheet1!$B$2:$B$18</c:f>
              <c:numCache>
                <c:formatCode>0.00"%"</c:formatCode>
                <c:ptCount val="17"/>
                <c:pt idx="0">
                  <c:v>1.87</c:v>
                </c:pt>
                <c:pt idx="1">
                  <c:v>1.905</c:v>
                </c:pt>
                <c:pt idx="2">
                  <c:v>0.706</c:v>
                </c:pt>
                <c:pt idx="3">
                  <c:v>0.928</c:v>
                </c:pt>
                <c:pt idx="4">
                  <c:v>0.939</c:v>
                </c:pt>
                <c:pt idx="5">
                  <c:v>1.017</c:v>
                </c:pt>
                <c:pt idx="6">
                  <c:v>1.061</c:v>
                </c:pt>
                <c:pt idx="7">
                  <c:v>1.956</c:v>
                </c:pt>
                <c:pt idx="8">
                  <c:v>0.702</c:v>
                </c:pt>
                <c:pt idx="9">
                  <c:v>0.75</c:v>
                </c:pt>
                <c:pt idx="10">
                  <c:v>0.829</c:v>
                </c:pt>
                <c:pt idx="11">
                  <c:v>1.017</c:v>
                </c:pt>
                <c:pt idx="12">
                  <c:v>1.265</c:v>
                </c:pt>
                <c:pt idx="13">
                  <c:v>0.697</c:v>
                </c:pt>
                <c:pt idx="14">
                  <c:v>0.773</c:v>
                </c:pt>
                <c:pt idx="15">
                  <c:v>0.827</c:v>
                </c:pt>
                <c:pt idx="16">
                  <c:v>1.074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9E1E8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>
                <a:solidFill>
                  <a:srgbClr val="4A5866"/>
                </a:solidFill>
              </a:rPr>
              <a:t>Balance error by quarters ahead, best model of each family (out of sample, re-selected at every origin, 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AR(1) benchmark</c:v>
                </c:pt>
              </c:strCache>
            </c:strRef>
          </c:tx>
          <c:spPr>
            <a:ln w="28575">
              <a:solidFill>
                <a:srgbClr val="8796A8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8796A8"/>
              </a:solidFill>
              <a:ln>
                <a:noFill/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0.0"%"</c:formatCode>
                <c:ptCount val="12"/>
                <c:pt idx="0">
                  <c:v>0.377</c:v>
                </c:pt>
                <c:pt idx="1">
                  <c:v>0.773</c:v>
                </c:pt>
                <c:pt idx="2">
                  <c:v>1.039</c:v>
                </c:pt>
                <c:pt idx="3">
                  <c:v>1.133</c:v>
                </c:pt>
                <c:pt idx="4">
                  <c:v>1.669</c:v>
                </c:pt>
                <c:pt idx="5">
                  <c:v>2.066</c:v>
                </c:pt>
                <c:pt idx="6">
                  <c:v>2.251</c:v>
                </c:pt>
                <c:pt idx="7">
                  <c:v>2.287</c:v>
                </c:pt>
                <c:pt idx="8">
                  <c:v>3.163</c:v>
                </c:pt>
                <c:pt idx="9">
                  <c:v>3.369</c:v>
                </c:pt>
                <c:pt idx="10">
                  <c:v>3.439</c:v>
                </c:pt>
                <c:pt idx="11">
                  <c:v>3.534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Screen first</c:v>
                </c:pt>
              </c:strCache>
            </c:strRef>
          </c:tx>
          <c:spPr>
            <a:ln w="28575">
              <a:solidFill>
                <a:srgbClr val="1F6F8B"/>
              </a:solidFill>
            </a:ln>
          </c:spPr>
          <c:marker>
            <c:symbol val="circle"/>
            <c:size val="5"/>
            <c:spPr>
              <a:solidFill>
                <a:srgbClr val="1F6F8B"/>
              </a:solidFill>
              <a:ln>
                <a:noFill/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0.0"%"</c:formatCode>
                <c:ptCount val="12"/>
                <c:pt idx="0">
                  <c:v>0.342</c:v>
                </c:pt>
                <c:pt idx="1">
                  <c:v>0.518</c:v>
                </c:pt>
                <c:pt idx="2">
                  <c:v>0.716</c:v>
                </c:pt>
                <c:pt idx="3">
                  <c:v>0.808</c:v>
                </c:pt>
                <c:pt idx="4">
                  <c:v>0.88</c:v>
                </c:pt>
                <c:pt idx="5">
                  <c:v>1.191</c:v>
                </c:pt>
                <c:pt idx="6">
                  <c:v>1.284</c:v>
                </c:pt>
                <c:pt idx="7">
                  <c:v>1.545</c:v>
                </c:pt>
                <c:pt idx="8">
                  <c:v>2.288</c:v>
                </c:pt>
                <c:pt idx="9">
                  <c:v>2.363</c:v>
                </c:pt>
                <c:pt idx="10">
                  <c:v>2.212</c:v>
                </c:pt>
                <c:pt idx="11">
                  <c:v>2.243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Literature: error-correction model</c:v>
                </c:pt>
              </c:strCache>
            </c:strRef>
          </c:tx>
          <c:spPr>
            <a:ln w="28575">
              <a:solidFill>
                <a:srgbClr val="E3A72F"/>
              </a:solidFill>
            </a:ln>
          </c:spPr>
          <c:marker>
            <c:symbol val="circle"/>
            <c:size val="5"/>
            <c:spPr>
              <a:solidFill>
                <a:srgbClr val="E3A72F"/>
              </a:solidFill>
              <a:ln>
                <a:noFill/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Sheet1!$D$2:$D$13</c:f>
              <c:numCache>
                <c:formatCode>0.0"%"</c:formatCode>
                <c:ptCount val="12"/>
                <c:pt idx="0">
                  <c:v>0.338</c:v>
                </c:pt>
                <c:pt idx="1">
                  <c:v>0.507</c:v>
                </c:pt>
                <c:pt idx="2">
                  <c:v>0.647</c:v>
                </c:pt>
                <c:pt idx="3">
                  <c:v>0.879</c:v>
                </c:pt>
                <c:pt idx="4">
                  <c:v>1.086</c:v>
                </c:pt>
                <c:pt idx="5">
                  <c:v>1.296</c:v>
                </c:pt>
                <c:pt idx="6">
                  <c:v>1.151</c:v>
                </c:pt>
                <c:pt idx="7">
                  <c:v>1.317</c:v>
                </c:pt>
                <c:pt idx="8">
                  <c:v>1.455</c:v>
                </c:pt>
                <c:pt idx="9">
                  <c:v>1.584</c:v>
                </c:pt>
                <c:pt idx="10">
                  <c:v>1.418</c:v>
                </c:pt>
                <c:pt idx="11">
                  <c:v>1.496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Hybrid: theory long run + data short run</c:v>
                </c:pt>
              </c:strCache>
            </c:strRef>
          </c:tx>
          <c:spPr>
            <a:ln w="28575">
              <a:solidFill>
                <a:srgbClr val="2E9E83"/>
              </a:solidFill>
            </a:ln>
          </c:spPr>
          <c:marker>
            <c:symbol val="circle"/>
            <c:size val="5"/>
            <c:spPr>
              <a:solidFill>
                <a:srgbClr val="2E9E83"/>
              </a:solidFill>
              <a:ln>
                <a:noFill/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Sheet1!$E$2:$E$13</c:f>
              <c:numCache>
                <c:formatCode>0.0"%"</c:formatCode>
                <c:ptCount val="12"/>
                <c:pt idx="0">
                  <c:v>0.366</c:v>
                </c:pt>
                <c:pt idx="1">
                  <c:v>0.547</c:v>
                </c:pt>
                <c:pt idx="2">
                  <c:v>0.737</c:v>
                </c:pt>
                <c:pt idx="3">
                  <c:v>0.958</c:v>
                </c:pt>
                <c:pt idx="4">
                  <c:v>1.001</c:v>
                </c:pt>
                <c:pt idx="5">
                  <c:v>1.096</c:v>
                </c:pt>
                <c:pt idx="6">
                  <c:v>1.146</c:v>
                </c:pt>
                <c:pt idx="7">
                  <c:v>1.174</c:v>
                </c:pt>
                <c:pt idx="8">
                  <c:v>1.453</c:v>
                </c:pt>
                <c:pt idx="9">
                  <c:v>1.337</c:v>
                </c:pt>
                <c:pt idx="10">
                  <c:v>1.202</c:v>
                </c:pt>
                <c:pt idx="11">
                  <c:v>1.211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Gradient boosting</c:v>
                </c:pt>
              </c:strCache>
            </c:strRef>
          </c:tx>
          <c:spPr>
            <a:ln w="28575">
              <a:solidFill>
                <a:srgbClr val="5B4B8A"/>
              </a:solidFill>
            </a:ln>
          </c:spPr>
          <c:marker>
            <c:symbol val="circle"/>
            <c:size val="5"/>
            <c:spPr>
              <a:solidFill>
                <a:srgbClr val="5B4B8A"/>
              </a:solidFill>
              <a:ln>
                <a:noFill/>
              </a:ln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Sheet1!$F$2:$F$13</c:f>
              <c:numCache>
                <c:formatCode>0.0"%"</c:formatCode>
                <c:ptCount val="12"/>
                <c:pt idx="0">
                  <c:v>0.346</c:v>
                </c:pt>
                <c:pt idx="1">
                  <c:v>0.396</c:v>
                </c:pt>
                <c:pt idx="2">
                  <c:v>0.604</c:v>
                </c:pt>
                <c:pt idx="3">
                  <c:v>0.753</c:v>
                </c:pt>
                <c:pt idx="4">
                  <c:v>0.929</c:v>
                </c:pt>
                <c:pt idx="5">
                  <c:v>1.154</c:v>
                </c:pt>
                <c:pt idx="6">
                  <c:v>1.187</c:v>
                </c:pt>
                <c:pt idx="7">
                  <c:v>1.243</c:v>
                </c:pt>
                <c:pt idx="8">
                  <c:v>1.606</c:v>
                </c:pt>
                <c:pt idx="9">
                  <c:v>1.645</c:v>
                </c:pt>
                <c:pt idx="10">
                  <c:v>1.685</c:v>
                </c:pt>
                <c:pt idx="11">
                  <c:v>1.65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E9E83"/>
              </a:solidFill>
              <a:ln>
                <a:noFill/>
              </a:ln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6.003</c:v>
                </c:pt>
                <c:pt idx="1">
                  <c:v>4.108</c:v>
                </c:pt>
                <c:pt idx="2">
                  <c:v>3.915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1.019</c:v>
                </c:pt>
                <c:pt idx="1">
                  <c:v>1.126</c:v>
                </c:pt>
                <c:pt idx="2">
                  <c:v>1.782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</c:f>
              <c:strCache>
                <c:ptCount val="1"/>
                <c:pt idx="0">
                  <c:v>Literature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E3A72F"/>
              </a:solidFill>
              <a:ln>
                <a:noFill/>
              </a:ln>
            </c:spPr>
          </c:marker>
          <c:xVal>
            <c:numRef>
              <c:f>Sheet1!$A$7:$A$10</c:f>
              <c:numCache>
                <c:formatCode>General</c:formatCode>
                <c:ptCount val="4"/>
                <c:pt idx="0">
                  <c:v>5.108</c:v>
                </c:pt>
                <c:pt idx="1">
                  <c:v>3.955</c:v>
                </c:pt>
                <c:pt idx="2">
                  <c:v>4.982</c:v>
                </c:pt>
                <c:pt idx="3">
                  <c:v>5.079</c:v>
                </c:pt>
              </c:numCache>
            </c:numRef>
          </c:xVal>
          <c:yVal>
            <c:numRef>
              <c:f>Sheet1!$B$7:$B$10</c:f>
              <c:numCache>
                <c:formatCode>General</c:formatCode>
                <c:ptCount val="4"/>
                <c:pt idx="0">
                  <c:v>1.098</c:v>
                </c:pt>
                <c:pt idx="1">
                  <c:v>1.113</c:v>
                </c:pt>
                <c:pt idx="2">
                  <c:v>1.119</c:v>
                </c:pt>
                <c:pt idx="3">
                  <c:v>2.251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</c:f>
              <c:strCache>
                <c:ptCount val="1"/>
                <c:pt idx="0">
                  <c:v>Machine learning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5B4B8A"/>
              </a:solidFill>
              <a:ln>
                <a:noFill/>
              </a:ln>
            </c:spPr>
          </c:marker>
          <c:xVal>
            <c:numRef>
              <c:f>Sheet1!$A$13:$A$16</c:f>
              <c:numCache>
                <c:formatCode>General</c:formatCode>
                <c:ptCount val="4"/>
                <c:pt idx="0">
                  <c:v>5.978</c:v>
                </c:pt>
                <c:pt idx="1">
                  <c:v>6.012</c:v>
                </c:pt>
                <c:pt idx="2">
                  <c:v>5.887</c:v>
                </c:pt>
                <c:pt idx="3">
                  <c:v>6.061</c:v>
                </c:pt>
              </c:numCache>
            </c:numRef>
          </c:xVal>
          <c:yVal>
            <c:numRef>
              <c:f>Sheet1!$B$13:$B$16</c:f>
              <c:numCache>
                <c:formatCode>General</c:formatCode>
                <c:ptCount val="4"/>
                <c:pt idx="0">
                  <c:v>1.1</c:v>
                </c:pt>
                <c:pt idx="1">
                  <c:v>1.176</c:v>
                </c:pt>
                <c:pt idx="2">
                  <c:v>1.187</c:v>
                </c:pt>
                <c:pt idx="3">
                  <c:v>1.255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Sheet1!$B$18</c:f>
              <c:strCache>
                <c:ptCount val="1"/>
                <c:pt idx="0">
                  <c:v>Data-driven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1F6F8B"/>
              </a:solidFill>
              <a:ln>
                <a:noFill/>
              </a:ln>
            </c:spPr>
          </c:marker>
          <c:xVal>
            <c:numRef>
              <c:f>Sheet1!$A$19:$A$20</c:f>
              <c:numCache>
                <c:formatCode>General</c:formatCode>
                <c:ptCount val="2"/>
                <c:pt idx="0">
                  <c:v>3.009</c:v>
                </c:pt>
                <c:pt idx="1">
                  <c:v>1.959</c:v>
                </c:pt>
              </c:numCache>
            </c:numRef>
          </c:xVal>
          <c:yVal>
            <c:numRef>
              <c:f>Sheet1!$B$19:$B$20</c:f>
              <c:numCache>
                <c:formatCode>General</c:formatCode>
                <c:ptCount val="2"/>
                <c:pt idx="0">
                  <c:v>1.366</c:v>
                </c:pt>
                <c:pt idx="1">
                  <c:v>1.609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Sheet1!$B$22</c:f>
              <c:strCache>
                <c:ptCount val="1"/>
                <c:pt idx="0">
                  <c:v>Benchmark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8796A8"/>
              </a:solidFill>
              <a:ln>
                <a:noFill/>
              </a:ln>
            </c:spPr>
          </c:marker>
          <c:xVal>
            <c:numRef>
              <c:f>Sheet1!$A$23:$A$24</c:f>
              <c:numCache>
                <c:formatCode>General</c:formatCode>
                <c:ptCount val="2"/>
                <c:pt idx="0">
                  <c:v>0.069</c:v>
                </c:pt>
                <c:pt idx="1">
                  <c:v>-0.047</c:v>
                </c:pt>
              </c:numCache>
            </c:numRef>
          </c:xVal>
          <c:yVal>
            <c:numRef>
              <c:f>Sheet1!$B$23:$B$24</c:f>
              <c:numCache>
                <c:formatCode>General</c:formatCode>
                <c:ptCount val="2"/>
                <c:pt idx="0">
                  <c:v>2.092</c:v>
                </c:pt>
                <c:pt idx="1">
                  <c:v>2.118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7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850" b="0"/>
                  <a:t>Distinct macro variables (long-run anchor included)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.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50" b="0"/>
                  <a:t>Error, 1–12 quarters (%)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>
                <a:solidFill>
                  <a:srgbClr val="4A5866"/>
                </a:solidFill>
              </a:rPr>
              <a:t>Loan balance ($ billions); error after the holdout in brackets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>
              <a:solidFill>
                <a:srgbClr val="1B2A41"/>
              </a:solidFill>
            </a:ln>
          </c:spPr>
          <c:marker>
            <c:symbol val="none"/>
            <c:size val="5"/>
            <c:spPr>
              <a:solidFill>
                <a:srgbClr val="1B2A41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Sheet1!$B$2:$B$21</c:f>
              <c:numCache>
                <c:formatCode>0</c:formatCode>
                <c:ptCount val="20"/>
                <c:pt idx="0">
                  <c:v>129.22</c:v>
                </c:pt>
                <c:pt idx="1">
                  <c:v>131.64</c:v>
                </c:pt>
                <c:pt idx="2">
                  <c:v>134.51</c:v>
                </c:pt>
                <c:pt idx="3">
                  <c:v>137.18</c:v>
                </c:pt>
                <c:pt idx="4">
                  <c:v>139.32</c:v>
                </c:pt>
                <c:pt idx="5">
                  <c:v>141.47</c:v>
                </c:pt>
                <c:pt idx="6">
                  <c:v>142.09</c:v>
                </c:pt>
                <c:pt idx="7">
                  <c:v>143.16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Actual, held out (organic)</c:v>
                </c:pt>
              </c:strCache>
            </c:strRef>
          </c:tx>
          <c:spPr>
            <a:ln w="28575">
              <a:solidFill>
                <a:srgbClr val="1B2A41"/>
              </a:solidFill>
              <a:prstDash val="dash"/>
            </a:ln>
          </c:spPr>
          <c:marker>
            <c:symbol val="none"/>
            <c:size val="5"/>
            <c:spPr>
              <a:solidFill>
                <a:srgbClr val="1B2A41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Sheet1!$C$2:$C$21</c:f>
              <c:numCache>
                <c:formatCode>0</c:formatCode>
                <c:ptCount val="20"/>
                <c:pt idx="7">
                  <c:v>143.16</c:v>
                </c:pt>
                <c:pt idx="8">
                  <c:v>144.22</c:v>
                </c:pt>
                <c:pt idx="9">
                  <c:v>144.55</c:v>
                </c:pt>
                <c:pt idx="10">
                  <c:v>145.19</c:v>
                </c:pt>
                <c:pt idx="11">
                  <c:v>146.21</c:v>
                </c:pt>
                <c:pt idx="12">
                  <c:v>146.78</c:v>
                </c:pt>
                <c:pt idx="13">
                  <c:v>148.68</c:v>
                </c:pt>
                <c:pt idx="14">
                  <c:v>149.53</c:v>
                </c:pt>
                <c:pt idx="15">
                  <c:v>150.89</c:v>
                </c:pt>
                <c:pt idx="16">
                  <c:v>152.22</c:v>
                </c:pt>
                <c:pt idx="17">
                  <c:v>153.32</c:v>
                </c:pt>
                <c:pt idx="18">
                  <c:v>154.47</c:v>
                </c:pt>
                <c:pt idx="19">
                  <c:v>156.45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AR(1) benchmark (+2.9%)</c:v>
                </c:pt>
              </c:strCache>
            </c:strRef>
          </c:tx>
          <c:spPr>
            <a:ln w="22225">
              <a:solidFill>
                <a:srgbClr val="8796A8"/>
              </a:solidFill>
              <a:prstDash val="dash"/>
            </a:ln>
          </c:spPr>
          <c:marker>
            <c:symbol val="none"/>
            <c:size val="5"/>
            <c:spPr>
              <a:solidFill>
                <a:srgbClr val="8796A8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Sheet1!$D$2:$D$21</c:f>
              <c:numCache>
                <c:formatCode>0</c:formatCode>
                <c:ptCount val="20"/>
                <c:pt idx="7">
                  <c:v>143.16</c:v>
                </c:pt>
                <c:pt idx="8">
                  <c:v>144.44</c:v>
                </c:pt>
                <c:pt idx="9">
                  <c:v>145.81</c:v>
                </c:pt>
                <c:pt idx="10">
                  <c:v>147.23</c:v>
                </c:pt>
                <c:pt idx="11">
                  <c:v>148.69</c:v>
                </c:pt>
                <c:pt idx="12">
                  <c:v>150.17</c:v>
                </c:pt>
                <c:pt idx="13">
                  <c:v>151.67</c:v>
                </c:pt>
                <c:pt idx="14">
                  <c:v>153.19</c:v>
                </c:pt>
                <c:pt idx="15">
                  <c:v>154.72</c:v>
                </c:pt>
                <c:pt idx="16">
                  <c:v>156.26</c:v>
                </c:pt>
                <c:pt idx="17">
                  <c:v>157.83</c:v>
                </c:pt>
                <c:pt idx="18">
                  <c:v>159.41</c:v>
                </c:pt>
                <c:pt idx="19">
                  <c:v>161.0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Screen first (-1.2%)</c:v>
                </c:pt>
              </c:strCache>
            </c:strRef>
          </c:tx>
          <c:spPr>
            <a:ln w="22225">
              <a:solidFill>
                <a:srgbClr val="1F6F8B"/>
              </a:solidFill>
            </a:ln>
          </c:spPr>
          <c:marker>
            <c:symbol val="none"/>
            <c:size val="5"/>
            <c:spPr>
              <a:solidFill>
                <a:srgbClr val="1F6F8B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Sheet1!$E$2:$E$21</c:f>
              <c:numCache>
                <c:formatCode>0</c:formatCode>
                <c:ptCount val="20"/>
                <c:pt idx="7">
                  <c:v>143.16</c:v>
                </c:pt>
                <c:pt idx="8">
                  <c:v>143.17</c:v>
                </c:pt>
                <c:pt idx="9">
                  <c:v>143.25</c:v>
                </c:pt>
                <c:pt idx="10">
                  <c:v>144.45</c:v>
                </c:pt>
                <c:pt idx="11">
                  <c:v>145.24</c:v>
                </c:pt>
                <c:pt idx="12">
                  <c:v>146.4</c:v>
                </c:pt>
                <c:pt idx="13">
                  <c:v>147.6</c:v>
                </c:pt>
                <c:pt idx="14">
                  <c:v>148.57</c:v>
                </c:pt>
                <c:pt idx="15">
                  <c:v>149.58</c:v>
                </c:pt>
                <c:pt idx="16">
                  <c:v>150.48</c:v>
                </c:pt>
                <c:pt idx="17">
                  <c:v>151.81</c:v>
                </c:pt>
                <c:pt idx="18">
                  <c:v>153.0</c:v>
                </c:pt>
                <c:pt idx="19">
                  <c:v>154.54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Literature: error-correction model (-2.5%)</c:v>
                </c:pt>
              </c:strCache>
            </c:strRef>
          </c:tx>
          <c:spPr>
            <a:ln w="22225">
              <a:solidFill>
                <a:srgbClr val="E3A72F"/>
              </a:solidFill>
            </a:ln>
          </c:spPr>
          <c:marker>
            <c:symbol val="none"/>
            <c:size val="5"/>
            <c:spPr>
              <a:solidFill>
                <a:srgbClr val="E3A72F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Sheet1!$F$2:$F$21</c:f>
              <c:numCache>
                <c:formatCode>0</c:formatCode>
                <c:ptCount val="20"/>
                <c:pt idx="7">
                  <c:v>143.16</c:v>
                </c:pt>
                <c:pt idx="8">
                  <c:v>143.31</c:v>
                </c:pt>
                <c:pt idx="9">
                  <c:v>143.19</c:v>
                </c:pt>
                <c:pt idx="10">
                  <c:v>144.09</c:v>
                </c:pt>
                <c:pt idx="11">
                  <c:v>144.79</c:v>
                </c:pt>
                <c:pt idx="12">
                  <c:v>145.66</c:v>
                </c:pt>
                <c:pt idx="13">
                  <c:v>146.5</c:v>
                </c:pt>
                <c:pt idx="14">
                  <c:v>147.4</c:v>
                </c:pt>
                <c:pt idx="15">
                  <c:v>148.35</c:v>
                </c:pt>
                <c:pt idx="16">
                  <c:v>149.27</c:v>
                </c:pt>
                <c:pt idx="17">
                  <c:v>150.22</c:v>
                </c:pt>
                <c:pt idx="18">
                  <c:v>151.37</c:v>
                </c:pt>
                <c:pt idx="19">
                  <c:v>152.62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Hybrid: theory long run + data short run (-2.7%)</c:v>
                </c:pt>
              </c:strCache>
            </c:strRef>
          </c:tx>
          <c:spPr>
            <a:ln w="22225">
              <a:solidFill>
                <a:srgbClr val="2E9E83"/>
              </a:solidFill>
            </a:ln>
          </c:spPr>
          <c:marker>
            <c:symbol val="none"/>
            <c:size val="5"/>
            <c:spPr>
              <a:solidFill>
                <a:srgbClr val="2E9E83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Sheet1!$G$2:$G$21</c:f>
              <c:numCache>
                <c:formatCode>0</c:formatCode>
                <c:ptCount val="20"/>
                <c:pt idx="7">
                  <c:v>143.16</c:v>
                </c:pt>
                <c:pt idx="8">
                  <c:v>143.25</c:v>
                </c:pt>
                <c:pt idx="9">
                  <c:v>143.27</c:v>
                </c:pt>
                <c:pt idx="10">
                  <c:v>144.3</c:v>
                </c:pt>
                <c:pt idx="11">
                  <c:v>144.88</c:v>
                </c:pt>
                <c:pt idx="12">
                  <c:v>145.84</c:v>
                </c:pt>
                <c:pt idx="13">
                  <c:v>146.74</c:v>
                </c:pt>
                <c:pt idx="14">
                  <c:v>147.39</c:v>
                </c:pt>
                <c:pt idx="15">
                  <c:v>148.18</c:v>
                </c:pt>
                <c:pt idx="16">
                  <c:v>148.91</c:v>
                </c:pt>
                <c:pt idx="17">
                  <c:v>150.01</c:v>
                </c:pt>
                <c:pt idx="18">
                  <c:v>150.98</c:v>
                </c:pt>
                <c:pt idx="19">
                  <c:v>152.29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Gradient boosting (-0.8%)</c:v>
                </c:pt>
              </c:strCache>
            </c:strRef>
          </c:tx>
          <c:spPr>
            <a:ln w="22225">
              <a:solidFill>
                <a:srgbClr val="5B4B8A"/>
              </a:solidFill>
            </a:ln>
          </c:spPr>
          <c:marker>
            <c:symbol val="none"/>
            <c:size val="5"/>
            <c:spPr>
              <a:solidFill>
                <a:srgbClr val="5B4B8A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Sheet1!$H$2:$H$21</c:f>
              <c:numCache>
                <c:formatCode>0</c:formatCode>
                <c:ptCount val="20"/>
                <c:pt idx="7">
                  <c:v>143.16</c:v>
                </c:pt>
                <c:pt idx="8">
                  <c:v>143.95</c:v>
                </c:pt>
                <c:pt idx="9">
                  <c:v>144.79</c:v>
                </c:pt>
                <c:pt idx="10">
                  <c:v>146.03</c:v>
                </c:pt>
                <c:pt idx="11">
                  <c:v>146.96</c:v>
                </c:pt>
                <c:pt idx="12">
                  <c:v>148.43</c:v>
                </c:pt>
                <c:pt idx="13">
                  <c:v>149.35</c:v>
                </c:pt>
                <c:pt idx="14">
                  <c:v>150.17</c:v>
                </c:pt>
                <c:pt idx="15">
                  <c:v>150.99</c:v>
                </c:pt>
                <c:pt idx="16">
                  <c:v>151.86</c:v>
                </c:pt>
                <c:pt idx="17">
                  <c:v>152.91</c:v>
                </c:pt>
                <c:pt idx="18">
                  <c:v>154.29</c:v>
                </c:pt>
                <c:pt idx="19">
                  <c:v>155.27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in val="126.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0">
                <a:solidFill>
                  <a:srgbClr val="4A5866"/>
                </a:solidFill>
              </a:rPr>
              <a:t>Screen first: loan balance ($ billions)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>
              <a:solidFill>
                <a:srgbClr val="1B2A41"/>
              </a:solidFill>
            </a:ln>
          </c:spPr>
          <c:marker>
            <c:symbol val="none"/>
            <c:size val="5"/>
            <c:spPr>
              <a:solidFill>
                <a:srgbClr val="1B2A41"/>
              </a:solidFill>
              <a:ln>
                <a:noFill/>
              </a:ln>
            </c:spPr>
          </c:marker>
          <c:cat>
            <c:strRef>
              <c:f>Sheet1!$A$2:$A$25</c:f>
              <c:strCache>
                <c:ptCount val="24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  <c:pt idx="12">
                  <c:v>2026Q1</c:v>
                </c:pt>
                <c:pt idx="13">
                  <c:v>2026Q2</c:v>
                </c:pt>
                <c:pt idx="14">
                  <c:v>2026Q3</c:v>
                </c:pt>
                <c:pt idx="15">
                  <c:v>2026Q4</c:v>
                </c:pt>
                <c:pt idx="16">
                  <c:v>2027Q1</c:v>
                </c:pt>
                <c:pt idx="17">
                  <c:v>2027Q2</c:v>
                </c:pt>
                <c:pt idx="18">
                  <c:v>2027Q3</c:v>
                </c:pt>
                <c:pt idx="19">
                  <c:v>2027Q4</c:v>
                </c:pt>
                <c:pt idx="20">
                  <c:v>2028Q1</c:v>
                </c:pt>
                <c:pt idx="21">
                  <c:v>2028Q2</c:v>
                </c:pt>
                <c:pt idx="22">
                  <c:v>2028Q3</c:v>
                </c:pt>
                <c:pt idx="23">
                  <c:v>2028Q4</c:v>
                </c:pt>
              </c:strCache>
            </c:strRef>
          </c:cat>
          <c:val>
            <c:numRef>
              <c:f>Sheet1!$B$2:$B$25</c:f>
              <c:numCache>
                <c:formatCode>0</c:formatCode>
                <c:ptCount val="24"/>
                <c:pt idx="0">
                  <c:v>144.22</c:v>
                </c:pt>
                <c:pt idx="1">
                  <c:v>144.55</c:v>
                </c:pt>
                <c:pt idx="2">
                  <c:v>145.19</c:v>
                </c:pt>
                <c:pt idx="3">
                  <c:v>146.21</c:v>
                </c:pt>
                <c:pt idx="4">
                  <c:v>146.78</c:v>
                </c:pt>
                <c:pt idx="5">
                  <c:v>148.68</c:v>
                </c:pt>
                <c:pt idx="6">
                  <c:v>149.53</c:v>
                </c:pt>
                <c:pt idx="7">
                  <c:v>150.89</c:v>
                </c:pt>
                <c:pt idx="8">
                  <c:v>152.22</c:v>
                </c:pt>
                <c:pt idx="9">
                  <c:v>153.32</c:v>
                </c:pt>
                <c:pt idx="10">
                  <c:v>154.47</c:v>
                </c:pt>
                <c:pt idx="11">
                  <c:v>156.45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>
              <a:solidFill>
                <a:srgbClr val="1F6F8B"/>
              </a:solidFill>
            </a:ln>
          </c:spPr>
          <c:marker>
            <c:symbol val="none"/>
            <c:size val="5"/>
            <c:spPr>
              <a:solidFill>
                <a:srgbClr val="1F6F8B"/>
              </a:solidFill>
              <a:ln>
                <a:noFill/>
              </a:ln>
            </c:spPr>
          </c:marker>
          <c:cat>
            <c:strRef>
              <c:f>Sheet1!$A$2:$A$25</c:f>
              <c:strCache>
                <c:ptCount val="24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  <c:pt idx="12">
                  <c:v>2026Q1</c:v>
                </c:pt>
                <c:pt idx="13">
                  <c:v>2026Q2</c:v>
                </c:pt>
                <c:pt idx="14">
                  <c:v>2026Q3</c:v>
                </c:pt>
                <c:pt idx="15">
                  <c:v>2026Q4</c:v>
                </c:pt>
                <c:pt idx="16">
                  <c:v>2027Q1</c:v>
                </c:pt>
                <c:pt idx="17">
                  <c:v>2027Q2</c:v>
                </c:pt>
                <c:pt idx="18">
                  <c:v>2027Q3</c:v>
                </c:pt>
                <c:pt idx="19">
                  <c:v>2027Q4</c:v>
                </c:pt>
                <c:pt idx="20">
                  <c:v>2028Q1</c:v>
                </c:pt>
                <c:pt idx="21">
                  <c:v>2028Q2</c:v>
                </c:pt>
                <c:pt idx="22">
                  <c:v>2028Q3</c:v>
                </c:pt>
                <c:pt idx="23">
                  <c:v>2028Q4</c:v>
                </c:pt>
              </c:strCache>
            </c:strRef>
          </c:cat>
          <c:val>
            <c:numRef>
              <c:f>Sheet1!$C$2:$C$25</c:f>
              <c:numCache>
                <c:formatCode>0</c:formatCode>
                <c:ptCount val="24"/>
                <c:pt idx="11">
                  <c:v>156.45</c:v>
                </c:pt>
                <c:pt idx="12">
                  <c:v>158.12</c:v>
                </c:pt>
                <c:pt idx="13">
                  <c:v>159.51</c:v>
                </c:pt>
                <c:pt idx="14">
                  <c:v>160.98</c:v>
                </c:pt>
                <c:pt idx="15">
                  <c:v>162.49</c:v>
                </c:pt>
                <c:pt idx="16">
                  <c:v>163.99</c:v>
                </c:pt>
                <c:pt idx="17">
                  <c:v>165.55</c:v>
                </c:pt>
                <c:pt idx="18">
                  <c:v>167.14</c:v>
                </c:pt>
                <c:pt idx="19">
                  <c:v>168.77</c:v>
                </c:pt>
                <c:pt idx="20">
                  <c:v>170.43</c:v>
                </c:pt>
                <c:pt idx="21">
                  <c:v>172.1</c:v>
                </c:pt>
                <c:pt idx="22">
                  <c:v>173.79</c:v>
                </c:pt>
                <c:pt idx="23">
                  <c:v>175.5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S1 Upside</c:v>
                </c:pt>
              </c:strCache>
            </c:strRef>
          </c:tx>
          <c:spPr>
            <a:ln w="28575">
              <a:solidFill>
                <a:srgbClr val="2E9E83"/>
              </a:solidFill>
            </a:ln>
          </c:spPr>
          <c:marker>
            <c:symbol val="none"/>
            <c:size val="5"/>
            <c:spPr>
              <a:solidFill>
                <a:srgbClr val="2E9E83"/>
              </a:solidFill>
              <a:ln>
                <a:noFill/>
              </a:ln>
            </c:spPr>
          </c:marker>
          <c:cat>
            <c:strRef>
              <c:f>Sheet1!$A$2:$A$25</c:f>
              <c:strCache>
                <c:ptCount val="24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  <c:pt idx="12">
                  <c:v>2026Q1</c:v>
                </c:pt>
                <c:pt idx="13">
                  <c:v>2026Q2</c:v>
                </c:pt>
                <c:pt idx="14">
                  <c:v>2026Q3</c:v>
                </c:pt>
                <c:pt idx="15">
                  <c:v>2026Q4</c:v>
                </c:pt>
                <c:pt idx="16">
                  <c:v>2027Q1</c:v>
                </c:pt>
                <c:pt idx="17">
                  <c:v>2027Q2</c:v>
                </c:pt>
                <c:pt idx="18">
                  <c:v>2027Q3</c:v>
                </c:pt>
                <c:pt idx="19">
                  <c:v>2027Q4</c:v>
                </c:pt>
                <c:pt idx="20">
                  <c:v>2028Q1</c:v>
                </c:pt>
                <c:pt idx="21">
                  <c:v>2028Q2</c:v>
                </c:pt>
                <c:pt idx="22">
                  <c:v>2028Q3</c:v>
                </c:pt>
                <c:pt idx="23">
                  <c:v>2028Q4</c:v>
                </c:pt>
              </c:strCache>
            </c:strRef>
          </c:cat>
          <c:val>
            <c:numRef>
              <c:f>Sheet1!$D$2:$D$25</c:f>
              <c:numCache>
                <c:formatCode>0</c:formatCode>
                <c:ptCount val="24"/>
                <c:pt idx="11">
                  <c:v>156.45</c:v>
                </c:pt>
                <c:pt idx="12">
                  <c:v>158.15</c:v>
                </c:pt>
                <c:pt idx="13">
                  <c:v>159.72</c:v>
                </c:pt>
                <c:pt idx="14">
                  <c:v>161.43</c:v>
                </c:pt>
                <c:pt idx="15">
                  <c:v>163.21</c:v>
                </c:pt>
                <c:pt idx="16">
                  <c:v>165.0</c:v>
                </c:pt>
                <c:pt idx="17">
                  <c:v>166.82</c:v>
                </c:pt>
                <c:pt idx="18">
                  <c:v>168.65</c:v>
                </c:pt>
                <c:pt idx="19">
                  <c:v>170.5</c:v>
                </c:pt>
                <c:pt idx="20">
                  <c:v>172.35</c:v>
                </c:pt>
                <c:pt idx="21">
                  <c:v>174.22</c:v>
                </c:pt>
                <c:pt idx="22">
                  <c:v>176.1</c:v>
                </c:pt>
                <c:pt idx="23">
                  <c:v>178.0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S3 Downside</c:v>
                </c:pt>
              </c:strCache>
            </c:strRef>
          </c:tx>
          <c:spPr>
            <a:ln w="28575">
              <a:solidFill>
                <a:srgbClr val="E3A72F"/>
              </a:solidFill>
            </a:ln>
          </c:spPr>
          <c:marker>
            <c:symbol val="none"/>
            <c:size val="5"/>
            <c:spPr>
              <a:solidFill>
                <a:srgbClr val="E3A72F"/>
              </a:solidFill>
              <a:ln>
                <a:noFill/>
              </a:ln>
            </c:spPr>
          </c:marker>
          <c:cat>
            <c:strRef>
              <c:f>Sheet1!$A$2:$A$25</c:f>
              <c:strCache>
                <c:ptCount val="24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  <c:pt idx="12">
                  <c:v>2026Q1</c:v>
                </c:pt>
                <c:pt idx="13">
                  <c:v>2026Q2</c:v>
                </c:pt>
                <c:pt idx="14">
                  <c:v>2026Q3</c:v>
                </c:pt>
                <c:pt idx="15">
                  <c:v>2026Q4</c:v>
                </c:pt>
                <c:pt idx="16">
                  <c:v>2027Q1</c:v>
                </c:pt>
                <c:pt idx="17">
                  <c:v>2027Q2</c:v>
                </c:pt>
                <c:pt idx="18">
                  <c:v>2027Q3</c:v>
                </c:pt>
                <c:pt idx="19">
                  <c:v>2027Q4</c:v>
                </c:pt>
                <c:pt idx="20">
                  <c:v>2028Q1</c:v>
                </c:pt>
                <c:pt idx="21">
                  <c:v>2028Q2</c:v>
                </c:pt>
                <c:pt idx="22">
                  <c:v>2028Q3</c:v>
                </c:pt>
                <c:pt idx="23">
                  <c:v>2028Q4</c:v>
                </c:pt>
              </c:strCache>
            </c:strRef>
          </c:cat>
          <c:val>
            <c:numRef>
              <c:f>Sheet1!$E$2:$E$25</c:f>
              <c:numCache>
                <c:formatCode>0</c:formatCode>
                <c:ptCount val="24"/>
                <c:pt idx="11">
                  <c:v>156.45</c:v>
                </c:pt>
                <c:pt idx="12">
                  <c:v>158.12</c:v>
                </c:pt>
                <c:pt idx="13">
                  <c:v>159.28</c:v>
                </c:pt>
                <c:pt idx="14">
                  <c:v>160.17</c:v>
                </c:pt>
                <c:pt idx="15">
                  <c:v>160.89</c:v>
                </c:pt>
                <c:pt idx="16">
                  <c:v>161.67</c:v>
                </c:pt>
                <c:pt idx="17">
                  <c:v>162.62</c:v>
                </c:pt>
                <c:pt idx="18">
                  <c:v>163.92</c:v>
                </c:pt>
                <c:pt idx="19">
                  <c:v>165.42</c:v>
                </c:pt>
                <c:pt idx="20">
                  <c:v>167.07</c:v>
                </c:pt>
                <c:pt idx="21">
                  <c:v>168.81</c:v>
                </c:pt>
                <c:pt idx="22">
                  <c:v>170.57</c:v>
                </c:pt>
                <c:pt idx="23">
                  <c:v>172.34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S4 Severe</c:v>
                </c:pt>
              </c:strCache>
            </c:strRef>
          </c:tx>
          <c:spPr>
            <a:ln w="28575">
              <a:solidFill>
                <a:srgbClr val="C2553F"/>
              </a:solidFill>
            </a:ln>
          </c:spPr>
          <c:marker>
            <c:symbol val="none"/>
            <c:size val="5"/>
            <c:spPr>
              <a:solidFill>
                <a:srgbClr val="C2553F"/>
              </a:solidFill>
              <a:ln>
                <a:noFill/>
              </a:ln>
            </c:spPr>
          </c:marker>
          <c:cat>
            <c:strRef>
              <c:f>Sheet1!$A$2:$A$25</c:f>
              <c:strCache>
                <c:ptCount val="24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  <c:pt idx="12">
                  <c:v>2026Q1</c:v>
                </c:pt>
                <c:pt idx="13">
                  <c:v>2026Q2</c:v>
                </c:pt>
                <c:pt idx="14">
                  <c:v>2026Q3</c:v>
                </c:pt>
                <c:pt idx="15">
                  <c:v>2026Q4</c:v>
                </c:pt>
                <c:pt idx="16">
                  <c:v>2027Q1</c:v>
                </c:pt>
                <c:pt idx="17">
                  <c:v>2027Q2</c:v>
                </c:pt>
                <c:pt idx="18">
                  <c:v>2027Q3</c:v>
                </c:pt>
                <c:pt idx="19">
                  <c:v>2027Q4</c:v>
                </c:pt>
                <c:pt idx="20">
                  <c:v>2028Q1</c:v>
                </c:pt>
                <c:pt idx="21">
                  <c:v>2028Q2</c:v>
                </c:pt>
                <c:pt idx="22">
                  <c:v>2028Q3</c:v>
                </c:pt>
                <c:pt idx="23">
                  <c:v>2028Q4</c:v>
                </c:pt>
              </c:strCache>
            </c:strRef>
          </c:cat>
          <c:val>
            <c:numRef>
              <c:f>Sheet1!$F$2:$F$25</c:f>
              <c:numCache>
                <c:formatCode>0</c:formatCode>
                <c:ptCount val="24"/>
                <c:pt idx="11">
                  <c:v>156.45</c:v>
                </c:pt>
                <c:pt idx="12">
                  <c:v>158.09</c:v>
                </c:pt>
                <c:pt idx="13">
                  <c:v>158.96</c:v>
                </c:pt>
                <c:pt idx="14">
                  <c:v>159.35</c:v>
                </c:pt>
                <c:pt idx="15">
                  <c:v>159.33</c:v>
                </c:pt>
                <c:pt idx="16">
                  <c:v>159.33</c:v>
                </c:pt>
                <c:pt idx="17">
                  <c:v>159.49</c:v>
                </c:pt>
                <c:pt idx="18">
                  <c:v>160.08</c:v>
                </c:pt>
                <c:pt idx="19">
                  <c:v>161.2</c:v>
                </c:pt>
                <c:pt idx="20">
                  <c:v>162.6</c:v>
                </c:pt>
                <c:pt idx="21">
                  <c:v>164.22</c:v>
                </c:pt>
                <c:pt idx="22">
                  <c:v>165.97</c:v>
                </c:pt>
                <c:pt idx="23">
                  <c:v>167.74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8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min val="141.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B2A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number in this deck is computed from the pipeline outputs when it is rendered. Errors are tested out of sample, re-selected at every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table is config/literature_variables.csv (full references in config/literature_references.csv). Models refer to concepts, not Moody’s names: map each concept to your series in the moodys_name column, and set include = no to drop a concept you do not believe from every literature and hybrid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Fixed hyperparameters, no tuning loop; machine-learning models are re-estimated every 4th backtest origin. Foundation models are not trained on our data, so they measure how much bank-specific modelling adds.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Colours: grey benchmark, blue data-driven, gold literature, green hybrid, purple machine learning, red AI foundation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Average balance error over 1 to h quarters, COVID windows excluded, out of sample, re-selected at every origin. Diebold-Mariano test with the small-sample correction; at 8 and 12 quarters there are too few independent origins for a reliable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actual (2025Q4): 156.5 billion. Severe ≤ downside ≤ baseline: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rgbClr val="0E3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l">
              <a:defRPr sz="3400" b="1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l">
              <a:buNone/>
              <a:defRPr sz="1600" b="0" cap="none">
                <a:solidFill>
                  <a:srgbClr val="C9DCE6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rgbClr val="0E3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400" b="1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 algn="l">
              <a:buNone/>
              <a:defRPr sz="1600" b="0" cap="none">
                <a:solidFill>
                  <a:srgbClr val="C9DCE6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b="1" cap="none" kern="1200" sz="2000">
          <a:solidFill>
            <a:srgbClr val="1B2A4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cap="none" kern="1200" sz="1400">
          <a:solidFill>
            <a:srgbClr val="1B2A4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cap="none" kern="1200" sz="1300">
          <a:solidFill>
            <a:srgbClr val="1B2A4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cap="none" kern="1200" sz="1200">
          <a:solidFill>
            <a:srgbClr val="1B2A4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cap="none" kern="1200" sz="1100">
          <a:solidFill>
            <a:srgbClr val="1B2A4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cap="none" kern="1200" sz="1100">
          <a:solidFill>
            <a:srgbClr val="1B2A4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 b="1" sz="3400">
                <a:latin typeface="Cambria"/>
              </a:rPr>
              <a:t>Forecasting the Ontario Loan Balance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alibri"/>
              </a:rPr>
              <a:t>An explainable macro model: methodology, model comparison and recommendation</a:t>
            </a:r>
            <a:br/>
            <a:br/>
            <a:r>
              <a:rPr>
                <a:latin typeface="Calibri"/>
              </a:rPr>
              <a:t>Model development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alibri"/>
              </a:rP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45262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E3A72F"/>
                </a:solidFill>
                <a:latin typeface="Calibri"/>
              </a:rPr>
              <a:t>Results shown are on simulated data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4686300" y="2487168"/>
            <a:ext cx="4000500" cy="2157984"/>
          </a:xfrm>
          <a:prstGeom prst="roundRect">
            <a:avLst>
              <a:gd name="adj" fmla="val 3389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487168"/>
            <a:ext cx="4000500" cy="2157984"/>
          </a:xfrm>
          <a:prstGeom prst="roundRect">
            <a:avLst>
              <a:gd name="adj" fmla="val 338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Within 3 variables, Screen first cuts the 12-quarter error by 35%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2487168"/>
            <a:ext cx="4000500" cy="21579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What we found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Theory-anchored models hold up best 8–12 quarters ahead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Data-chosen drivers change from origin to origin; the usual backtest flatters them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Every model beats the AR(1) benchmark (2.09%) except the ECB BEAST specification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86300" y="2487168"/>
            <a:ext cx="4000500" cy="21579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/>
            </a:r>
            <a:r>
              <a:rPr b="1" sz="1300">
                <a:solidFill>
                  <a:srgbClr val="E3A72F"/>
                </a:solidFill>
                <a:latin typeface="Cambria"/>
              </a:rPr>
              <a:t>Recommendation</a:t>
            </a:r>
          </a:p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>3-variable limit firm: </a:t>
            </a:r>
            <a:r>
              <a:rPr b="1" sz="1150">
                <a:solidFill>
                  <a:srgbClr val="FFFFFF"/>
                </a:solidFill>
                <a:latin typeface="Calibri"/>
              </a:rPr>
              <a:t>Screen first</a:t>
            </a:r>
            <a:r>
              <a:rPr sz="1150">
                <a:solidFill>
                  <a:srgbClr val="FFFFFF"/>
                </a:solidFill>
                <a:latin typeface="Calibri"/>
              </a:rPr>
              <a:t>, challenger Hybrid: theory long run + data short run</a:t>
            </a:r>
          </a:p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>Limit relaxed for a long-run anchor: </a:t>
            </a:r>
            <a:r>
              <a:rPr b="1" sz="1150">
                <a:solidFill>
                  <a:srgbClr val="FFFFFF"/>
                </a:solidFill>
                <a:latin typeface="Calibri"/>
              </a:rPr>
              <a:t>Hybrid: theory long run + data short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2633472" cy="1188720"/>
          </a:xfrm>
          <a:prstGeom prst="roundRect">
            <a:avLst>
              <a:gd name="adj" fmla="val 6153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25296"/>
            <a:ext cx="23042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6F8B"/>
                </a:solidFill>
                <a:latin typeface="Cambria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00784"/>
            <a:ext cx="23042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models in 5 families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same tests 4, 8 and 12 quarters 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115568"/>
            <a:ext cx="2633472" cy="1188720"/>
          </a:xfrm>
          <a:prstGeom prst="roundRect">
            <a:avLst>
              <a:gd name="adj" fmla="val 6153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225296"/>
            <a:ext cx="23042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6F8B"/>
                </a:solidFill>
                <a:latin typeface="Cambria"/>
              </a:rPr>
              <a:t>1.37%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1700784"/>
            <a:ext cx="23042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best within 3 variables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Screen first, average over 1–12 quarters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1115568"/>
            <a:ext cx="2633472" cy="1188720"/>
          </a:xfrm>
          <a:prstGeom prst="roundRect">
            <a:avLst>
              <a:gd name="adj" fmla="val 6153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25296"/>
            <a:ext cx="23042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3A72F"/>
                </a:solidFill>
                <a:latin typeface="Cambria"/>
              </a:rPr>
              <a:t>1.02%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00784"/>
            <a:ext cx="23042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most accurate overall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Hybrid: theory long run + data short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457200" y="1115568"/>
            <a:ext cx="2880360" cy="3529584"/>
          </a:xfrm>
          <a:prstGeom prst="roundRect">
            <a:avLst>
              <a:gd name="adj" fmla="val 2539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model must be explainable, scenario-ready and accurate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115568"/>
            <a:ext cx="288036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/>
            </a:r>
            <a:r>
              <a:rPr b="1" sz="1300">
                <a:solidFill>
                  <a:srgbClr val="E3A72F"/>
                </a:solidFill>
                <a:latin typeface="Cambria"/>
              </a:rPr>
              <a:t>Objective</a:t>
            </a:r>
          </a:p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>Forecast the quarterly Ontario loan balance from about 400 Moody’s Canadian macro variables and internal data, under Moody’s baseline, upside, downside and severe scenarios.</a:t>
            </a:r>
          </a:p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>Uses: planning, scenario analysis, stress testing, capital and liquidity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115568"/>
            <a:ext cx="2487168" cy="1078992"/>
          </a:xfrm>
          <a:prstGeom prst="roundRect">
            <a:avLst>
              <a:gd name="adj" fmla="val 677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12464" y="1261872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581" y="1375989"/>
            <a:ext cx="247254" cy="2472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34256" y="1225296"/>
            <a:ext cx="160934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Scenario-ready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Every driver has a Moody’s scenario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115568"/>
            <a:ext cx="2487168" cy="1078992"/>
          </a:xfrm>
          <a:prstGeom prst="roundRect">
            <a:avLst>
              <a:gd name="adj" fmla="val 677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5936" y="1261872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53" y="1375989"/>
            <a:ext cx="247254" cy="2472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67728" y="1225296"/>
            <a:ext cx="160934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Economically sensible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Each coefficient has the expected 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340864"/>
            <a:ext cx="2487168" cy="1078992"/>
          </a:xfrm>
          <a:prstGeom prst="roundRect">
            <a:avLst>
              <a:gd name="adj" fmla="val 677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12464" y="2487168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581" y="2601285"/>
            <a:ext cx="247254" cy="2472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4256" y="2450592"/>
            <a:ext cx="160934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Few drivers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Fewer than 4 key variables for the audience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340864"/>
            <a:ext cx="2487168" cy="1078992"/>
          </a:xfrm>
          <a:prstGeom prst="roundRect">
            <a:avLst>
              <a:gd name="adj" fmla="val 677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45936" y="2487168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ulls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053" y="2601285"/>
            <a:ext cx="247254" cy="2472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67728" y="2450592"/>
            <a:ext cx="160934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Accurate out of sample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Beats the benchmark 4, 8 and 12 quarters ahead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566160"/>
            <a:ext cx="2487168" cy="1078992"/>
          </a:xfrm>
          <a:prstGeom prst="roundRect">
            <a:avLst>
              <a:gd name="adj" fmla="val 677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12464" y="3712464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eth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6581" y="3826581"/>
            <a:ext cx="247254" cy="24725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34256" y="3675888"/>
            <a:ext cx="160934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Statistically sound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Stable coefficients, clean residual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66160"/>
            <a:ext cx="2487168" cy="1078992"/>
          </a:xfrm>
          <a:prstGeom prst="roundRect">
            <a:avLst>
              <a:gd name="adj" fmla="val 677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45936" y="3712464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0053" y="3826581"/>
            <a:ext cx="247254" cy="24725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67728" y="3675888"/>
            <a:ext cx="160934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Sensible scenarios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Severe &lt; downside &lt; baseline &lt; upside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 sz="3000">
                <a:latin typeface="Cambria"/>
              </a:rPr>
              <a:t>Methodology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Six steps take 400 series to a small, tested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0151"/>
            <a:ext cx="1203960" cy="2011680"/>
          </a:xfrm>
          <a:prstGeom prst="roundRect">
            <a:avLst>
              <a:gd name="adj" fmla="val 6075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8289" y="1383031"/>
            <a:ext cx="541782" cy="541782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lls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17" y="1513059"/>
            <a:ext cx="281727" cy="2817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2034541"/>
            <a:ext cx="1057656" cy="1104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mbria"/>
              </a:rPr>
              <a:t>1. Target</a:t>
            </a:r>
          </a:p>
          <a:p>
            <a:pPr algn="ctr"/>
            <a:r>
              <a:rPr sz="900" b="0" i="0">
                <a:solidFill>
                  <a:srgbClr val="4A5866"/>
                </a:solidFill>
                <a:latin typeface="Calibri"/>
              </a:rPr>
              <a:t>Organic quarterly log change of the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160" y="206883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8796A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2328" y="1200151"/>
            <a:ext cx="1203960" cy="2011680"/>
          </a:xfrm>
          <a:prstGeom prst="roundRect">
            <a:avLst>
              <a:gd name="adj" fmla="val 6075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3417" y="1383031"/>
            <a:ext cx="541782" cy="541782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445" y="1513059"/>
            <a:ext cx="281727" cy="2817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35480" y="2034541"/>
            <a:ext cx="1057656" cy="1104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mbria"/>
              </a:rPr>
              <a:t>2. Transform</a:t>
            </a:r>
          </a:p>
          <a:p>
            <a:pPr algn="ctr"/>
            <a:r>
              <a:rPr sz="900" b="0" i="0">
                <a:solidFill>
                  <a:srgbClr val="4A5866"/>
                </a:solidFill>
                <a:latin typeface="Calibri"/>
              </a:rPr>
              <a:t>Up to 7 stationary forms, lags 0–4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6288" y="206883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8796A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7456" y="1200151"/>
            <a:ext cx="1203960" cy="2011680"/>
          </a:xfrm>
          <a:prstGeom prst="roundRect">
            <a:avLst>
              <a:gd name="adj" fmla="val 6075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98545" y="1383031"/>
            <a:ext cx="541782" cy="541782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573" y="1513059"/>
            <a:ext cx="281727" cy="2817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40608" y="2034541"/>
            <a:ext cx="1057656" cy="1104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mbria"/>
              </a:rPr>
              <a:t>3. Select</a:t>
            </a:r>
          </a:p>
          <a:p>
            <a:pPr algn="ctr"/>
            <a:r>
              <a:rPr sz="900" b="0" i="0">
                <a:solidFill>
                  <a:srgbClr val="4A5866"/>
                </a:solidFill>
                <a:latin typeface="Calibri"/>
              </a:rPr>
              <a:t>Screen first, or Elastic Net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06883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8796A8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4" y="1200151"/>
            <a:ext cx="1203960" cy="2011680"/>
          </a:xfrm>
          <a:prstGeom prst="roundRect">
            <a:avLst>
              <a:gd name="adj" fmla="val 6075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03673" y="1383031"/>
            <a:ext cx="541782" cy="541782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701" y="1513059"/>
            <a:ext cx="281727" cy="2817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45736" y="2034541"/>
            <a:ext cx="1057656" cy="1104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mbria"/>
              </a:rPr>
              <a:t>4. Group</a:t>
            </a:r>
          </a:p>
          <a:p>
            <a:pPr algn="ctr"/>
            <a:r>
              <a:rPr sz="900" b="0" i="0">
                <a:solidFill>
                  <a:srgbClr val="4A5866"/>
                </a:solidFill>
                <a:latin typeface="Calibri"/>
              </a:rPr>
              <a:t>Near-duplicates count as one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6544" y="206883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8796A8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77712" y="1200151"/>
            <a:ext cx="1203960" cy="2011680"/>
          </a:xfrm>
          <a:prstGeom prst="roundRect">
            <a:avLst>
              <a:gd name="adj" fmla="val 6075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8801" y="1383031"/>
            <a:ext cx="541782" cy="541782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829" y="1513059"/>
            <a:ext cx="281727" cy="2817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50864" y="2034541"/>
            <a:ext cx="1057656" cy="1104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mbria"/>
              </a:rPr>
              <a:t>5. Search</a:t>
            </a:r>
          </a:p>
          <a:p>
            <a:pPr algn="ctr"/>
            <a:r>
              <a:rPr sz="900" b="0" i="0">
                <a:solidFill>
                  <a:srgbClr val="4A5866"/>
                </a:solidFill>
                <a:latin typeface="Calibri"/>
              </a:rPr>
              <a:t>Every 1–3 driver combination under economic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672" y="206883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8796A8"/>
                </a:solidFill>
                <a:latin typeface="Calibr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2840" y="1200151"/>
            <a:ext cx="1203960" cy="2011680"/>
          </a:xfrm>
          <a:prstGeom prst="roundRect">
            <a:avLst>
              <a:gd name="adj" fmla="val 6075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13929" y="1383031"/>
            <a:ext cx="541782" cy="541782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-dou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957" y="1513059"/>
            <a:ext cx="281727" cy="2817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55992" y="2034541"/>
            <a:ext cx="1057656" cy="1104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1"/>
                </a:solidFill>
                <a:latin typeface="Cambria"/>
              </a:rPr>
              <a:t>6. Validate</a:t>
            </a:r>
          </a:p>
          <a:p>
            <a:pPr algn="ctr"/>
            <a:r>
              <a:rPr sz="900" b="0" i="0">
                <a:solidFill>
                  <a:srgbClr val="4A5866"/>
                </a:solidFill>
                <a:latin typeface="Calibri"/>
              </a:rPr>
              <a:t>Backtest, re-selection test, scenarios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42232"/>
            <a:ext cx="8229600" cy="502920"/>
          </a:xfrm>
          <a:prstGeom prst="roundRect">
            <a:avLst>
              <a:gd name="adj" fmla="val 12000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18795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E3A72F"/>
                </a:solidFill>
                <a:latin typeface="Calibri"/>
              </a:rPr>
              <a:t>Guiding principle: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theory sets the rules (channels, signs, geography); data does the measuring (series, form, lag); the final ranking is on out-of-sample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57200" y="1115568"/>
            <a:ext cx="3200400" cy="3529584"/>
          </a:xfrm>
          <a:prstGeom prst="roundRect">
            <a:avLst>
              <a:gd name="adj" fmla="val 2285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target is organic loan growth, cleaned of one-off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115568"/>
            <a:ext cx="320040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Target variable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y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  <a:r>
              <a:rPr sz="1150">
                <a:solidFill>
                  <a:srgbClr val="1B2A41"/>
                </a:solidFill>
                <a:latin typeface="Calibri"/>
              </a:rPr>
              <a:t> = ln[(L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  <a:r>
              <a:rPr sz="1150">
                <a:solidFill>
                  <a:srgbClr val="1B2A41"/>
                </a:solidFill>
                <a:latin typeface="Calibri"/>
              </a:rPr>
              <a:t> − A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  <a:r>
              <a:rPr sz="1150">
                <a:solidFill>
                  <a:srgbClr val="1B2A41"/>
                </a:solidFill>
                <a:latin typeface="Calibri"/>
              </a:rPr>
              <a:t>) / L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t−1</a:t>
            </a:r>
            <a:r>
              <a:rPr sz="1150">
                <a:solidFill>
                  <a:srgbClr val="1B2A41"/>
                </a:solidFill>
                <a:latin typeface="Calibri"/>
              </a:rPr>
              <a:t>]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L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  <a:r>
              <a:rPr sz="1150">
                <a:solidFill>
                  <a:srgbClr val="1B2A41"/>
                </a:solidFill>
                <a:latin typeface="Calibri"/>
              </a:rPr>
              <a:t> is the quarter-end balance; A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  <a:r>
              <a:rPr sz="1150">
                <a:solidFill>
                  <a:srgbClr val="1B2A41"/>
                </a:solidFill>
                <a:latin typeface="Calibri"/>
              </a:rPr>
              <a:t> removes acquisitions and portfolio sales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The balance is not stationary; its log change is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Each COVID quarter (2020Q1–2021Q2) has its own dummy and is left out of the error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886200" y="1115568"/>
          <a:ext cx="4800600" cy="35295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Each variable is tried in several economically meaningful 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0151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328167"/>
            <a:ext cx="2340864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8B"/>
                </a:solidFill>
                <a:latin typeface="Cambria"/>
              </a:rPr>
              <a:t>Levels (indexes, $, counts)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B2A41"/>
                </a:solidFill>
                <a:latin typeface="Calibri"/>
              </a:rPr>
              <a:t>• q/q, y/y and 2-quarter growth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B2A41"/>
                </a:solidFill>
                <a:latin typeface="Calibri"/>
              </a:rPr>
              <a:t>• Acceleration of y/y growth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B2A41"/>
                </a:solidFill>
                <a:latin typeface="Calibri"/>
              </a:rPr>
              <a:t>• % gap from 3-year average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B2A41"/>
                </a:solidFill>
                <a:latin typeface="Calibri"/>
              </a:rPr>
              <a:t>• Real growth, deflated by CPI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5264" y="1200151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1568" y="1328167"/>
            <a:ext cx="2340864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6F8B"/>
                </a:solidFill>
                <a:latin typeface="Cambria"/>
              </a:rPr>
              <a:t>Rates (%, pp)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B2A41"/>
                </a:solidFill>
                <a:latin typeface="Calibri"/>
              </a:rPr>
              <a:t>• q/q, 2-quarter and y/y change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B2A41"/>
                </a:solidFill>
                <a:latin typeface="Calibri"/>
              </a:rPr>
              <a:t>• Level, if stationary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B2A41"/>
                </a:solidFill>
                <a:latin typeface="Calibri"/>
              </a:rPr>
              <a:t>• Gap from 3-year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200151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328167"/>
            <a:ext cx="2340864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3A72F"/>
                </a:solidFill>
                <a:latin typeface="Cambria"/>
              </a:rPr>
              <a:t>Constructed variables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Real 5-year mortgage rate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Mortgage spread over 5-year GoC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Term spread (10-year minus overnight)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42232"/>
            <a:ext cx="8229600" cy="502920"/>
          </a:xfrm>
          <a:prstGeom prst="roundRect">
            <a:avLst>
              <a:gd name="adj" fmla="val 12000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E3A72F"/>
                </a:solidFill>
                <a:latin typeface="Calibri"/>
              </a:rPr>
              <a:t>Only stationary forms are kept: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every window looks backwards only; ADF test on each form; lags 0–4 give 2,304 candidate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funnel narrows 400 series to 3 drivers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15568"/>
          <a:ext cx="4640580" cy="35295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26380" y="1115568"/>
            <a:ext cx="3360420" cy="772668"/>
          </a:xfrm>
          <a:prstGeom prst="roundRect">
            <a:avLst>
              <a:gd name="adj" fmla="val 946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72684" y="1289418"/>
            <a:ext cx="424967" cy="424967"/>
          </a:xfrm>
          <a:prstGeom prst="ellipse">
            <a:avLst/>
          </a:prstGeom>
          <a:solidFill>
            <a:srgbClr val="E3A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676" y="1391410"/>
            <a:ext cx="220983" cy="2209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43955" y="1225296"/>
            <a:ext cx="2533117" cy="5897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Relevance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Ontario and Canada series; industry detail dropped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26380" y="2034540"/>
            <a:ext cx="3360420" cy="772668"/>
          </a:xfrm>
          <a:prstGeom prst="roundRect">
            <a:avLst>
              <a:gd name="adj" fmla="val 946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72684" y="2208390"/>
            <a:ext cx="424967" cy="424967"/>
          </a:xfrm>
          <a:prstGeom prst="ellipse">
            <a:avLst/>
          </a:prstGeom>
          <a:solidFill>
            <a:srgbClr val="E3A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676" y="2310382"/>
            <a:ext cx="220983" cy="220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43955" y="2144268"/>
            <a:ext cx="2533117" cy="5897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Screen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p &lt; 0.05 and the expected sign, controlling for momentum and COVID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26380" y="2953512"/>
            <a:ext cx="3360420" cy="772668"/>
          </a:xfrm>
          <a:prstGeom prst="roundRect">
            <a:avLst>
              <a:gd name="adj" fmla="val 946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72684" y="3127362"/>
            <a:ext cx="424967" cy="424967"/>
          </a:xfrm>
          <a:prstGeom prst="ellipse">
            <a:avLst/>
          </a:prstGeom>
          <a:solidFill>
            <a:srgbClr val="E3A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676" y="3229354"/>
            <a:ext cx="220983" cy="2209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43955" y="3063240"/>
            <a:ext cx="2533117" cy="5897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Cluster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Correlation above 0.75 counts as one signal; Ontario preferred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6380" y="3872484"/>
            <a:ext cx="3360420" cy="772668"/>
          </a:xfrm>
          <a:prstGeom prst="roundRect">
            <a:avLst>
              <a:gd name="adj" fmla="val 946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72684" y="4046334"/>
            <a:ext cx="424967" cy="424967"/>
          </a:xfrm>
          <a:prstGeom prst="ellipse">
            <a:avLst/>
          </a:prstGeom>
          <a:solidFill>
            <a:srgbClr val="E3A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676" y="4148326"/>
            <a:ext cx="220983" cy="2209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43955" y="3982212"/>
            <a:ext cx="2533117" cy="5897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Search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Best 1–3 driver combination by out-of-sample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686300" y="1115568"/>
            <a:ext cx="4000500" cy="3529584"/>
          </a:xfrm>
          <a:prstGeom prst="roundRect">
            <a:avLst>
              <a:gd name="adj" fmla="val 2072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4000500" cy="3529584"/>
          </a:xfrm>
          <a:prstGeom prst="roundRect">
            <a:avLst>
              <a:gd name="adj" fmla="val 2072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Two ways to choose the drivers, then the same final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115568"/>
            <a:ext cx="400050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A. Screen first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Each candidate alone in y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  <a:r>
              <a:rPr sz="1150">
                <a:solidFill>
                  <a:srgbClr val="1B2A41"/>
                </a:solidFill>
                <a:latin typeface="Calibri"/>
              </a:rPr>
              <a:t> = a + ρy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t−1</a:t>
            </a:r>
            <a:r>
              <a:rPr sz="1150">
                <a:solidFill>
                  <a:srgbClr val="1B2A41"/>
                </a:solidFill>
                <a:latin typeface="Calibri"/>
              </a:rPr>
              <a:t> + dummies + βz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Pass: p &lt; 0.05 and expected sign: 98 variables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Cluster: 43 groups, shortlist of 25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Final search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86300" y="1115568"/>
            <a:ext cx="400050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B. Elastic Net first</a:t>
            </a:r>
            <a:r>
              <a:rPr sz="1150">
                <a:solidFill>
                  <a:srgbClr val="1B2A41"/>
                </a:solidFill>
                <a:latin typeface="Calibri"/>
              </a:rPr>
              <a:t> (glmnet conventions)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Momentum and dummies unpenalised; signs constrained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λ set so 10 features enter; deterministic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Kept if chosen in ≥ 60% of 100 subsamples: 6 features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Group, then the same final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457200" y="1115568"/>
            <a:ext cx="3680460" cy="3529584"/>
          </a:xfrm>
          <a:prstGeom prst="roundRect">
            <a:avLst>
              <a:gd name="adj" fmla="val 2072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Selection rules keep every model economic, simple and accurate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115568"/>
            <a:ext cx="368046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Each candidate on its own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y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  <a:r>
              <a:rPr sz="1150">
                <a:solidFill>
                  <a:srgbClr val="1B2A41"/>
                </a:solidFill>
                <a:latin typeface="Calibri"/>
              </a:rPr>
              <a:t> = α + ρ·y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t−1</a:t>
            </a:r>
            <a:r>
              <a:rPr sz="1150">
                <a:solidFill>
                  <a:srgbClr val="1B2A41"/>
                </a:solidFill>
                <a:latin typeface="Calibri"/>
              </a:rPr>
              <a:t> + Σ γ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q</a:t>
            </a:r>
            <a:r>
              <a:rPr sz="1150">
                <a:solidFill>
                  <a:srgbClr val="1B2A41"/>
                </a:solidFill>
                <a:latin typeface="Calibri"/>
              </a:rPr>
              <a:t>·D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q,t</a:t>
            </a:r>
            <a:r>
              <a:rPr sz="1150">
                <a:solidFill>
                  <a:srgbClr val="1B2A41"/>
                </a:solidFill>
                <a:latin typeface="Calibri"/>
              </a:rPr>
              <a:t> + β·z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t−ℓ</a:t>
            </a:r>
            <a:r>
              <a:rPr sz="1150">
                <a:solidFill>
                  <a:srgbClr val="1B2A41"/>
                </a:solidFill>
                <a:latin typeface="Calibri"/>
              </a:rPr>
              <a:t> + ε</a:t>
            </a:r>
            <a:r>
              <a:rPr baseline="-25000" sz="1150">
                <a:solidFill>
                  <a:srgbClr val="1B2A41"/>
                </a:solidFill>
                <a:latin typeface="Calibri"/>
              </a:rPr>
              <a:t>t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z is one variable in one form; ℓ is its lag (0–4)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Lagged growth and COVID dummies are controls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Pass: p &lt; 0.05 (Newey-West) and the expected 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6260" y="1115568"/>
            <a:ext cx="208711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12564" y="1261872"/>
            <a:ext cx="475488" cy="475488"/>
          </a:xfrm>
          <a:prstGeom prst="ellipse">
            <a:avLst/>
          </a:prstGeom>
          <a:solidFill>
            <a:srgbClr val="2E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681" y="1375989"/>
            <a:ext cx="247254" cy="2472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34356" y="1225296"/>
            <a:ext cx="120929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Every driver significant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Robust t-statistic above 1.96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9682" y="1115568"/>
            <a:ext cx="208711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45986" y="1261872"/>
            <a:ext cx="475488" cy="475488"/>
          </a:xfrm>
          <a:prstGeom prst="ellipse">
            <a:avLst/>
          </a:prstGeom>
          <a:solidFill>
            <a:srgbClr val="2E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103" y="1375989"/>
            <a:ext cx="247254" cy="2472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7778" y="1225296"/>
            <a:ext cx="120929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Every sign as expected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Explainable to the business and the regulator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6260" y="2587752"/>
            <a:ext cx="208711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2564" y="2734056"/>
            <a:ext cx="475488" cy="475488"/>
          </a:xfrm>
          <a:prstGeom prst="ellipse">
            <a:avLst/>
          </a:prstGeom>
          <a:solidFill>
            <a:srgbClr val="2E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mp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681" y="2848173"/>
            <a:ext cx="247254" cy="2472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34356" y="2697480"/>
            <a:ext cx="120929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No strong collinearity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VIF below 5; one driver per economic theme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99682" y="2587752"/>
            <a:ext cx="208711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45986" y="2734056"/>
            <a:ext cx="475488" cy="475488"/>
          </a:xfrm>
          <a:prstGeom prst="ellipse">
            <a:avLst/>
          </a:prstGeom>
          <a:solidFill>
            <a:srgbClr val="2E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-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103" y="2848173"/>
            <a:ext cx="247254" cy="2472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67778" y="2697480"/>
            <a:ext cx="120929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Ranked out of sample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Balance error over 12 quarters; simplest within 5%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literature points to four channels for household credit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0151"/>
            <a:ext cx="404164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346455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21" y="1460572"/>
            <a:ext cx="247254" cy="2472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5296" y="1309879"/>
            <a:ext cx="316382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House prices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Collateral value and the size of mortgages. Hofmann (2004); Goodhart &amp; Hofmann (2008); Muellbauer et al. (2015)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1200151"/>
            <a:ext cx="404164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91456" y="1346455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573" y="1460572"/>
            <a:ext cx="247254" cy="247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13248" y="1309879"/>
            <a:ext cx="316382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Household income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Borrowing capacity. Fitzpatrick &amp; McQuinn (2007); Muellbauer, St-Amant &amp; Williams (2015)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72335"/>
            <a:ext cx="404164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818639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21" y="2932756"/>
            <a:ext cx="247254" cy="2472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5296" y="2782063"/>
            <a:ext cx="316382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Cost of credit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Mortgage rates, slow pass-through via 5-year renewals. Calza et al. (2003); Godbout, Xu &amp; Su (2025)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2672335"/>
            <a:ext cx="4041648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91456" y="2818639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ser-t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573" y="2932756"/>
            <a:ext cx="247254" cy="2472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13248" y="2782063"/>
            <a:ext cx="316382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Labour market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Unemployment and income risk. Included in the ECB BEAST loan-demand block (Budnik et al. 2023)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42232"/>
            <a:ext cx="8229600" cy="502920"/>
          </a:xfrm>
          <a:prstGeom prst="roundRect">
            <a:avLst>
              <a:gd name="adj" fmla="val 12000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8795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E3A72F"/>
                </a:solidFill>
                <a:latin typeface="Calibri"/>
              </a:rPr>
              <a:t>Also in the literature: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real GDP and the policy rate (Hofmann 2004; Guo &amp; Stepanyan 2011); inflation and the term spread have no clear 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literature table: drivers of household credit and our series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15568"/>
          <a:ext cx="8229600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24000"/>
                <a:gridCol w="825500"/>
                <a:gridCol w="36703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Our series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House prices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Hofmann (2004); Goodhart &amp; Hofmann (2008); Fitzpatrick &amp; McQuinn (2007) …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FHPI.ION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Household disposable 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Fitzpatrick &amp; McQuinn (2007); Muellbauer, St-Amant &amp; Williams (2015)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FYPD.ION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Real GDP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Hofmann (2004); Calza, Gartner &amp; Sousa (2003); Guo &amp; Stepanyan (2011) …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FGDPR.ION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5-year mortgage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C2553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Calza, Gartner &amp; Sousa (2003); Gimeno &amp; Martínez-Carrascal (2010); Muellbauer, St-Amant &amp; Williams (2015) 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FRMORT5Y.IC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Policy (overnight) rate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C2553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Hofmann (2004); Calza, Gartner &amp; Sousa (2003); Guo &amp; Stepanyan (2011) …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FRBOC.IC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Real mortgage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C2553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Hofmann (2004, real interest rate); Muellbauer, St-Amant &amp; Williams (2015)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XRMORTREAL.IC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Unemployment rate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C2553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Budnik et al.; expected sign from economic theory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FLBR.ION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CPI inflation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Ambiguous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Budnik et al.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FCPI.ION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Term spread (10-year minus overnight)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Ambiguous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Budnik et al.; Bluwstein et al.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XTERM.IC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in use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Mortgage payment-to-income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C2553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Godbout, Xu &amp; Su (2025); Muellbauer, St-Amant &amp; Williams (2015)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not mapped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Credit conditions (easing)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Muellbauer, St-Amant &amp; Williams (2015, credit conditions index); Bailliu, Kartashova &amp; Meh (2012, financial innovation)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not mapped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Bank deposits and funding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Guo &amp; Stepanyan (2011)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C2553F"/>
                          </a:solidFill>
                          <a:latin typeface="Calibri"/>
                        </a:rPr>
                        <a:t>switched 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17 models in 5 families compete on equal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0151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346455"/>
            <a:ext cx="475488" cy="475488"/>
          </a:xfrm>
          <a:prstGeom prst="ellipse">
            <a:avLst/>
          </a:prstGeom>
          <a:solidFill>
            <a:srgbClr val="879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21" y="1460572"/>
            <a:ext cx="247254" cy="2472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5296" y="1309879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Benchmark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AR(1) benchmark; Mean growth 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9168" y="1200151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95472" y="1346455"/>
            <a:ext cx="475488" cy="475488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589" y="1460572"/>
            <a:ext cx="247254" cy="247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17264" y="1309879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Data-driven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Screen first; Elastic Net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1136" y="1200151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87440" y="1346455"/>
            <a:ext cx="475488" cy="475488"/>
          </a:xfrm>
          <a:prstGeom prst="ellipse">
            <a:avLst/>
          </a:prstGeom>
          <a:solidFill>
            <a:srgbClr val="E3A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57" y="1460572"/>
            <a:ext cx="247254" cy="2472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09232" y="1309879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Literature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classic ARDL; ECB BEAST loan demand; four-channel core; error-correction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2335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2818639"/>
            <a:ext cx="475488" cy="475488"/>
          </a:xfrm>
          <a:prstGeom prst="ellipse">
            <a:avLst/>
          </a:prstGeom>
          <a:solidFill>
            <a:srgbClr val="2E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21" y="2932756"/>
            <a:ext cx="247254" cy="2472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5296" y="2782063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Hybrid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theory core + data add-ons; theory long run + data short run; theory channels, data measures; 50/50 data + theory; performance-weighted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9168" y="2672335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95472" y="2818639"/>
            <a:ext cx="475488" cy="47548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589" y="2932756"/>
            <a:ext cx="247254" cy="2472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17264" y="2782063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Machine learning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Ridge regression; Random forest; Gradient boosting; Neural network (MLP)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41136" y="2672335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87440" y="2818639"/>
            <a:ext cx="475488" cy="475488"/>
          </a:xfrm>
          <a:prstGeom prst="ellipse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557" y="2932756"/>
            <a:ext cx="247254" cy="2472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09232" y="2782063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AI foundation model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Chronos-Bolt; Chronos-2 (need pip install chronos-forecasting)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Machine learning and AI: what they add, and what they cost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15568"/>
          <a:ext cx="8229598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81034"/>
                <a:gridCol w="2840416"/>
                <a:gridCol w="2054229"/>
                <a:gridCol w="1153919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Responds to scenarios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Run time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Momentum, dummies, pooled drivers (literature core + data-chosen)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Seconds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Random forest, gradient 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Yes, within the historical range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~10 s each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Neural network (5 small nets, averaged)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Chronos-Bolt (Amazon, 2024)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Loan growth history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No: same path in every scenario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&lt; 1 s per forecast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Chronos-2 (Amazon, 2025)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Loan growth, literature drivers and their scenario paths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&lt; 1 s per forecast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686300" y="1115568"/>
            <a:ext cx="4000500" cy="3529584"/>
          </a:xfrm>
          <a:prstGeom prst="roundRect">
            <a:avLst>
              <a:gd name="adj" fmla="val 2072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4000500" cy="3529584"/>
          </a:xfrm>
          <a:prstGeom prst="roundRect">
            <a:avLst>
              <a:gd name="adj" fmla="val 2072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Every model is tested the same way, 4, 8 and 12 quarters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115568"/>
            <a:ext cx="400050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Rolling backtest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Every quarter from 2010Q4; re-estimated at every origin: forecast 1–12 quarters with realised macro values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Error on the balance level; COVID windows left out</a:t>
            </a:r>
          </a:p>
          <a:p>
            <a:pPr lvl="0"/>
            <a:r>
              <a:rPr sz="1150">
                <a:solidFill>
                  <a:srgbClr val="1B2A41"/>
                </a:solidFill>
                <a:latin typeface="Calibri"/>
              </a:rPr>
              <a:t>Drivers chosen once with all the data, so optimistic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86300" y="1115568"/>
            <a:ext cx="400050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/>
            </a:r>
            <a:r>
              <a:rPr b="1" sz="1300">
                <a:solidFill>
                  <a:srgbClr val="E3A72F"/>
                </a:solidFill>
                <a:latin typeface="Cambria"/>
              </a:rPr>
              <a:t>True out-of-sample test</a:t>
            </a:r>
          </a:p>
          <a:p>
            <a:pPr lvl="0"/>
            <a:r>
              <a:rPr sz="1150">
                <a:solidFill>
                  <a:srgbClr val="FFFFFF"/>
                </a:solidFill>
                <a:latin typeface="Calibri"/>
              </a:rPr>
              <a:t>At 12 origins, the whole selection is re-run with data up to the origin</a:t>
            </a:r>
          </a:p>
          <a:p>
            <a:pPr lvl="0"/>
            <a:r>
              <a:rPr sz="1150">
                <a:solidFill>
                  <a:srgbClr val="FFFFFF"/>
                </a:solidFill>
                <a:latin typeface="Calibri"/>
              </a:rPr>
              <a:t>Compared at 4, 8 and 12 quarters ahead</a:t>
            </a:r>
          </a:p>
          <a:p>
            <a:pPr lvl="0"/>
            <a:r>
              <a:rPr sz="1150">
                <a:solidFill>
                  <a:srgbClr val="FFFFFF"/>
                </a:solidFill>
                <a:latin typeface="Calibri"/>
              </a:rPr>
              <a:t>Diebold-Mariano tests against AR(1); holdout of the last 12 quarters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 sz="3000">
                <a:latin typeface="Cambria"/>
              </a:rPr>
              <a:t>Performance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Out of sample, theory-anchored models are the most accurate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15568"/>
          <a:ext cx="5120640" cy="35295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06440" y="1115568"/>
            <a:ext cx="2880360" cy="10668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2" y="1225296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3A72F"/>
                </a:solidFill>
                <a:latin typeface="Cambria"/>
              </a:rPr>
              <a:t>1.02%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2" y="1609344"/>
            <a:ext cx="2551176" cy="499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Hybrid: theory long run + data short run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most accurate, 6 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346960"/>
            <a:ext cx="2880360" cy="10668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71032" y="2456688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6F8B"/>
                </a:solidFill>
                <a:latin typeface="Cambria"/>
              </a:rPr>
              <a:t>1.37%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2840736"/>
            <a:ext cx="2551176" cy="499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Screen first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best within 3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578352"/>
            <a:ext cx="2880360" cy="10668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1032" y="3688080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6F8B"/>
                </a:solidFill>
                <a:latin typeface="Cambria"/>
              </a:rPr>
              <a:t>2.09%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4072128"/>
            <a:ext cx="2551176" cy="499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AR(1) benchmark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past loan growth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806440" y="1115568"/>
            <a:ext cx="2880360" cy="3529584"/>
          </a:xfrm>
          <a:prstGeom prst="roundRect">
            <a:avLst>
              <a:gd name="adj" fmla="val 253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With drivers chosen on all the data, the ranking looks different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806440" y="1115568"/>
            <a:ext cx="288036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Why the two rankings differ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The rolling backtest keeps the drivers chosen with all the data, so data-driven models look better than they are.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The out-of-sample test re-chooses everything at each origin. Decisions use that test.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15568"/>
          <a:ext cx="5120640" cy="35295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best model of each family at 4, 8 and 12 quarters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15568"/>
          <a:ext cx="8229598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0121"/>
                <a:gridCol w="2340411"/>
                <a:gridCol w="750458"/>
                <a:gridCol w="750458"/>
                <a:gridCol w="750458"/>
                <a:gridCol w="1093888"/>
                <a:gridCol w="1233804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Best model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1–4q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1–8q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1–12q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vs AR(1), 1–12q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Beats AR(1) at 4q (DM 5%)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AR(1) benchmark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0.83%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1.45%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2.09%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Data-driven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Screen first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0.60%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0.91%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1.37%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35% 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C2553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Literature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error-correction model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0.59%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0.90%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1.10%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48% less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2E9E8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theory long run + data short 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0.65%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0.88%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1.02%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51% 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C2553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0.52%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0.83%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1.10%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47% less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C2553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gap over the benchmark widens with the horizon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00151"/>
          <a:ext cx="8229600" cy="33944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806440" y="1115568"/>
            <a:ext cx="2880360" cy="3529584"/>
          </a:xfrm>
          <a:prstGeom prst="roundRect">
            <a:avLst>
              <a:gd name="adj" fmla="val 2539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More variables buy accuracy at long horizons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806440" y="1115568"/>
            <a:ext cx="288036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The trade-off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Within 3 variables the best is Screen first at 1.37%.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Hybrid: theory long run + data short run reaches 1.02% with 6 variables, its long-run anchor included.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The limit is a decision for the model owner.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15568"/>
          <a:ext cx="5120640" cy="35295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806440" y="1115568"/>
            <a:ext cx="2880360" cy="3529584"/>
          </a:xfrm>
          <a:prstGeom prst="roundRect">
            <a:avLst>
              <a:gd name="adj" fmla="val 2539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Choosing drivers with all the data flatters the backtest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15568"/>
          <a:ext cx="5120637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07698"/>
                <a:gridCol w="1594161"/>
                <a:gridCol w="772926"/>
                <a:gridCol w="772926"/>
                <a:gridCol w="772926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Drivers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1–4q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1–8q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1–12q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Screen first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re-selected each time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0.60%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0.91%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1.37%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Screen first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fixed from all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0.52%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0.60%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0.72%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Elastic Net first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re-selected each time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0.53%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1.05%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1.61%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Elastic Net first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fixed from all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0.46%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0.72%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1.05%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806440" y="1115568"/>
            <a:ext cx="288036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/>
            </a:r>
            <a:r>
              <a:rPr b="1" sz="1300">
                <a:solidFill>
                  <a:srgbClr val="E3A72F"/>
                </a:solidFill>
                <a:latin typeface="Cambria"/>
              </a:rPr>
              <a:t>Look-ahead optimism</a:t>
            </a:r>
          </a:p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>The gap between the two rows is what a backtest gains by keeping drivers chosen with all the data.</a:t>
            </a:r>
          </a:p>
          <a:p>
            <a:pPr lvl="0" indent="0" marL="0">
              <a:buNone/>
            </a:pPr>
            <a:r>
              <a:rPr sz="1150">
                <a:solidFill>
                  <a:srgbClr val="FFFFFF"/>
                </a:solidFill>
                <a:latin typeface="Calibri"/>
              </a:rPr>
              <a:t>Decisions in this deck use the re-selected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Which drivers keep being chosen, origin after origin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15568"/>
          <a:ext cx="8229600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06600"/>
                <a:gridCol w="825500"/>
                <a:gridCol w="1181100"/>
                <a:gridCol w="4216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Driver sets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Overlap with previous origin (1 = same)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Most often chosen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Screen first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FWAGE.IC q/q L1, FHPISFD.ITOR q/q L1, FHPI.IHAM q/q L1, FPOPT.ISTC q/q L0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Elastic Net first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FHPI.ION q/q L1, FYPD.ION q/q L1, FYPD.ION real q/q L1, FHPI.IBAR q/q L1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Hybrid: theory core + data add-ons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FRMORT5Y.IC chg L2, FLBR.ION chg L1, FYPD.ION q/q L1, FHPI.ION q/q L1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Hybrid: theory long run + data short 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LR FGDPR.ION log, LR FRMORT5Y.IC real_rate, LR FHPI.ION log_real, FWAGE.IC q/q L1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Hybrid: theory channels, data measures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FYPD.ION real q/q L1, XRMORTREAL.IC chg L2, FHPI.ISTC q/q L1, FHPI.IBAR q/q L1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Holdout: chosen and estimated without the last 12 quarters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00151"/>
          <a:ext cx="8229600" cy="33944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Screen first: the best model within 3 variables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15568"/>
          <a:ext cx="5600697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03307"/>
                <a:gridCol w="598816"/>
                <a:gridCol w="457918"/>
                <a:gridCol w="3240656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Coef.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Momentum (last quarter)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0.033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0.03 of last quarter’s growth carries into this quarter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FCRMORT.IC y/y L1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A 1% rise in Residential mortgage credit, Canada raises q/q loan growth by 0.083 pp 1 quarter later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FYPD.ION q/q L1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0.309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A 1% rise in Personal disposable income, Ontario (C$) raises q/q loan growth by 0.309 pp 1 quarter later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FBPRES.IC 2q L0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A 1% rise in Residential building permits (C$) raises q/q loan growth by 0.014 pp in the same quarter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86500" y="1115568"/>
            <a:ext cx="2400300" cy="10668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1092" y="1225296"/>
            <a:ext cx="20711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6F8B"/>
                </a:solidFill>
                <a:latin typeface="Cambria"/>
              </a:rPr>
              <a:t>1.37%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092" y="1609344"/>
            <a:ext cx="2071116" cy="499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error over 1–12 quarters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0.60% over 1–4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2346960"/>
            <a:ext cx="2400300" cy="10668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1092" y="2456688"/>
            <a:ext cx="20711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6F8B"/>
                </a:solidFill>
                <a:latin typeface="Cambria"/>
              </a:rPr>
              <a:t>0.66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092" y="2840736"/>
            <a:ext cx="2071116" cy="499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adjusted R²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full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3578352"/>
            <a:ext cx="2400300" cy="10668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1092" y="3688080"/>
            <a:ext cx="20711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6F8B"/>
                </a:solidFill>
                <a:latin typeface="Cambria"/>
              </a:rPr>
              <a:t>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092" y="4072128"/>
            <a:ext cx="2071116" cy="499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libri"/>
              </a:rPr>
              <a:t>largest VIF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limit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The model passes the statistical checks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15568"/>
          <a:ext cx="5280659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60220"/>
                <a:gridCol w="1942884"/>
                <a:gridCol w="880110"/>
                <a:gridCol w="697445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Driver significance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Largest p-value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Multicollinearity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Largest VIF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1.140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Autocorrelation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Ljung-Box p, 4 lags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0.409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Autocorrelation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Ljung-Box p, 8 lags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Heteroskedasticity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Breusch-Pagan p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0.818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Normality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Jarque-Bera 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0.777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Stability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CUSUM p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0.816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1B2A41"/>
                          </a:solidFill>
                          <a:latin typeface="Calibri"/>
                        </a:rPr>
                        <a:t>Economic sense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Signs as expected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>
                          <a:solidFill>
                            <a:srgbClr val="1B2A41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850" b="1">
                          <a:solidFill>
                            <a:srgbClr val="2E9E8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66460" y="1115568"/>
            <a:ext cx="2720340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12764" y="1261872"/>
            <a:ext cx="475488" cy="475488"/>
          </a:xfrm>
          <a:prstGeom prst="ellipse">
            <a:avLst/>
          </a:prstGeom>
          <a:solidFill>
            <a:srgbClr val="2E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881" y="1375989"/>
            <a:ext cx="247254" cy="2472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34556" y="1225296"/>
            <a:ext cx="184251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What else is reported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The same diagnostics for every regression model, wrong-sign flags, and an Engle-Granger test for the error-correction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All scenarios are ordered sensibly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646420" y="1115568"/>
          <a:ext cx="3040378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91070"/>
                <a:gridCol w="562327"/>
                <a:gridCol w="562327"/>
                <a:gridCol w="562327"/>
                <a:gridCol w="562327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Year-end $bn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Upside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Downside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Severe</a:t>
                      </a:r>
                    </a:p>
                  </a:txBody>
                  <a:tcPr marL="54864" marR="54864" marT="27432" marB="27432" anchor="ctr">
                    <a:solidFill>
                      <a:srgbClr val="0E3B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2026Q4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162.5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163.2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160.9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159.3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2027Q4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168.8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170.5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165.4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161.2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 b="1">
                          <a:solidFill>
                            <a:srgbClr val="1B2A41"/>
                          </a:solidFill>
                          <a:latin typeface="Calibri"/>
                        </a:rPr>
                        <a:t>2028Q4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175.5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178.0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172.3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950">
                          <a:solidFill>
                            <a:srgbClr val="1B2A41"/>
                          </a:solidFill>
                          <a:latin typeface="Calibri"/>
                        </a:rPr>
                        <a:t>167.7</a:t>
                      </a:r>
                    </a:p>
                  </a:txBody>
                  <a:tcPr marL="54864" marR="54864" marT="27432" marB="27432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115568"/>
          <a:ext cx="4960620" cy="35295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Known limitations and how they are managed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0151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346455"/>
            <a:ext cx="475488" cy="475488"/>
          </a:xfrm>
          <a:prstGeom prst="ellipse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ssh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21" y="1460572"/>
            <a:ext cx="247254" cy="2472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5296" y="1309879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Conditional accuracy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Tests use realised macro values; live error adds Moody’s forecast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9168" y="1200151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95472" y="1346455"/>
            <a:ext cx="475488" cy="475488"/>
          </a:xfrm>
          <a:prstGeom prst="ellipse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589" y="1460572"/>
            <a:ext cx="247254" cy="247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17264" y="1309879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Small sample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About 95 quarters: sign priors, grouping and re-selection limit overfitting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1136" y="1200151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87440" y="1346455"/>
            <a:ext cx="475488" cy="475488"/>
          </a:xfrm>
          <a:prstGeom prst="ellipse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nd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57" y="1460572"/>
            <a:ext cx="247254" cy="2472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09232" y="1309879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Drivers move with the data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Re-selection test and stability table; theory-anchored challengers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2335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2818639"/>
            <a:ext cx="475488" cy="475488"/>
          </a:xfrm>
          <a:prstGeom prst="ellipse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21" y="2932756"/>
            <a:ext cx="247254" cy="2472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5296" y="2782063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Credit aggregates as drivers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Mortgage-credit growth is close to the target: review or exclude that theme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9168" y="2672335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95472" y="2818639"/>
            <a:ext cx="475488" cy="475488"/>
          </a:xfrm>
          <a:prstGeom prst="ellipse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589" y="2932756"/>
            <a:ext cx="247254" cy="2472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17264" y="2782063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Machine learning and AI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Less transparent; trees cannot extrapolate in severe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41136" y="2672335"/>
            <a:ext cx="2645664" cy="1325880"/>
          </a:xfrm>
          <a:prstGeom prst="roundRect">
            <a:avLst>
              <a:gd name="adj" fmla="val 551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87440" y="2818639"/>
            <a:ext cx="475488" cy="475488"/>
          </a:xfrm>
          <a:prstGeom prst="ellipse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557" y="2932756"/>
            <a:ext cx="247254" cy="2472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09232" y="2782063"/>
            <a:ext cx="1767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Cambria"/>
              </a:rPr>
              <a:t>Simulated data</a:t>
            </a:r>
          </a:p>
          <a:p>
            <a:pPr algn="l"/>
            <a:r>
              <a:rPr sz="950" b="0" i="0">
                <a:solidFill>
                  <a:srgbClr val="4A5866"/>
                </a:solidFill>
                <a:latin typeface="Calibri"/>
              </a:rPr>
              <a:t>All figures must be re-run on actual bank and Moody’s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FFFFFF"/>
                </a:solidFill>
                <a:latin typeface="Cambria"/>
              </a:rPr>
              <a:t>Recommendation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0151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328167"/>
            <a:ext cx="2340864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3A72F"/>
                </a:solidFill>
                <a:latin typeface="Cambria"/>
              </a:rPr>
              <a:t>If the limit is firm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Screen first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1.37% error over 1–12 quarters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5264" y="1200151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1568" y="1328167"/>
            <a:ext cx="2340864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3A72F"/>
                </a:solidFill>
                <a:latin typeface="Cambria"/>
              </a:rPr>
              <a:t>Challenger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Hybrid: theory long run + data short run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1.02%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monitored alongside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200151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0E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328167"/>
            <a:ext cx="2340864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3A72F"/>
                </a:solidFill>
                <a:latin typeface="Cambria"/>
              </a:rPr>
              <a:t>If a long-run anchor is acceptable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Hybrid: theory long run + data short run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• most accurate at 8–12 quarters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42232"/>
            <a:ext cx="8229600" cy="502920"/>
          </a:xfrm>
          <a:prstGeom prst="roundRect">
            <a:avLst>
              <a:gd name="adj" fmla="val 12000"/>
            </a:avLst>
          </a:prstGeom>
          <a:solidFill>
            <a:srgbClr val="1A4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E3A72F"/>
                </a:solidFill>
                <a:latin typeface="Calibri"/>
              </a:rPr>
              <a:t>Next steps: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re-run on actual data; review the literature table and expected signs with the business; agree the variable limit with model risk; add the foundation models; monitor quarterly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C9DCE6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C9DCE6"/>
                </a:solidFill>
                <a:latin typeface="Calibri"/>
              </a:rPr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E3A72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686300" y="1115568"/>
            <a:ext cx="4000500" cy="3529584"/>
          </a:xfrm>
          <a:prstGeom prst="roundRect">
            <a:avLst>
              <a:gd name="adj" fmla="val 2072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4000500" cy="3529584"/>
          </a:xfrm>
          <a:prstGeom prst="roundRect">
            <a:avLst>
              <a:gd name="adj" fmla="val 2072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822960"/>
          </a:xfrm>
        </p:spPr>
        <p:txBody>
          <a:bodyPr anchor="ctr"/>
          <a:lstStyle/>
          <a:p>
            <a:pPr lvl="0" indent="0" marL="0" algn="ctr">
              <a:buNone/>
            </a:pPr>
            <a:r>
              <a:rPr b="1" sz="2000">
                <a:solidFill>
                  <a:srgbClr val="1B2A41"/>
                </a:solidFill>
                <a:latin typeface="Cambria"/>
              </a:rPr>
              <a:t>Appendix: reproducing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115568"/>
            <a:ext cx="400050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Commands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python run_pipeline.py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python run_oos.py</a:t>
            </a:r>
          </a:p>
          <a:p>
            <a:pPr lvl="0" indent="-342900" marL="342900">
              <a:buAutoNum type="arabicPeriod"/>
            </a:pPr>
            <a:r>
              <a:rPr sz="1150">
                <a:solidFill>
                  <a:srgbClr val="1B2A41"/>
                </a:solidFill>
                <a:latin typeface="Calibri"/>
              </a:rPr>
              <a:t>quarto render</a:t>
            </a:r>
            <a:r>
              <a:rPr sz="1150">
                <a:solidFill>
                  <a:srgbClr val="1B2A41"/>
                </a:solidFill>
                <a:latin typeface="Calibri"/>
              </a:rPr>
              <a:t> on </a:t>
            </a:r>
            <a:r>
              <a:rPr sz="1150">
                <a:solidFill>
                  <a:srgbClr val="1B2A41"/>
                </a:solidFill>
                <a:latin typeface="Calibri"/>
              </a:rPr>
              <a:t>report/loan_model_deck.qmd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Another data set: add </a:t>
            </a:r>
            <a:r>
              <a:rPr sz="1150">
                <a:solidFill>
                  <a:srgbClr val="1B2A41"/>
                </a:solidFill>
                <a:latin typeface="Calibri"/>
              </a:rPr>
              <a:t>-P config_file:my.yaml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86300" y="1115568"/>
            <a:ext cx="4000500" cy="3529584"/>
          </a:xfrm>
        </p:spPr>
        <p:txBody>
          <a:bodyPr lIns="164592" rIns="164592" tIns="128016" bIns="91440" wrap="square"/>
          <a:lstStyle/>
          <a:p>
            <a:pPr lvl="0" indent="0" marL="0">
              <a:buNone/>
            </a:pPr>
            <a:r>
              <a:rPr b="1" sz="1300">
                <a:solidFill>
                  <a:srgbClr val="1F6F8B"/>
                </a:solidFill>
                <a:latin typeface="Cambria"/>
              </a:rPr>
              <a:t>How it is built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Every number, table and chart is read from </a:t>
            </a:r>
            <a:r>
              <a:rPr sz="1150">
                <a:solidFill>
                  <a:srgbClr val="1B2A41"/>
                </a:solidFill>
                <a:latin typeface="Calibri"/>
              </a:rPr>
              <a:t>outputs/</a:t>
            </a:r>
            <a:r>
              <a:rPr sz="1150">
                <a:solidFill>
                  <a:srgbClr val="1B2A41"/>
                </a:solidFill>
                <a:latin typeface="Calibri"/>
              </a:rPr>
              <a:t>. After rendering, </a:t>
            </a:r>
            <a:r>
              <a:rPr sz="1150">
                <a:solidFill>
                  <a:srgbClr val="1B2A41"/>
                </a:solidFill>
                <a:latin typeface="Calibri"/>
              </a:rPr>
              <a:t>style_deck.py</a:t>
            </a:r>
            <a:r>
              <a:rPr sz="1150">
                <a:solidFill>
                  <a:srgbClr val="1B2A41"/>
                </a:solidFill>
                <a:latin typeface="Calibri"/>
              </a:rPr>
              <a:t> applies the design (runs automatically).</a:t>
            </a:r>
          </a:p>
          <a:p>
            <a:pPr lvl="0" indent="0" marL="0">
              <a:buNone/>
            </a:pPr>
            <a:r>
              <a:rPr sz="1150">
                <a:solidFill>
                  <a:srgbClr val="1B2A41"/>
                </a:solidFill>
                <a:latin typeface="Calibri"/>
              </a:rPr>
              <a:t>Each run writes a trace of every function call; </a:t>
            </a:r>
            <a:r>
              <a:rPr sz="1150">
                <a:solidFill>
                  <a:srgbClr val="1B2A41"/>
                </a:solidFill>
                <a:latin typeface="Calibri"/>
              </a:rPr>
              <a:t>tools/walkthrough.py</a:t>
            </a:r>
            <a:r>
              <a:rPr sz="1150">
                <a:solidFill>
                  <a:srgbClr val="1B2A41"/>
                </a:solidFill>
                <a:latin typeface="Calibri"/>
              </a:rPr>
              <a:t> steps through the method on a small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796A8"/>
                </a:solidFill>
                <a:latin typeface="Calibri"/>
              </a:rPr>
              <a:t>Ontario loan balance forecasting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796A8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4632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C2553F"/>
                </a:solidFill>
                <a:latin typeface="Calibri"/>
              </a:rPr>
              <a:t>Results on simulated data with the same structure as the production inputs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1B2A41"/>
      </a:dk1>
      <a:lt1>
        <a:srgbClr val="FFFFFF"/>
      </a:lt1>
      <a:dk2>
        <a:srgbClr val="0E3B4F"/>
      </a:dk2>
      <a:lt2>
        <a:srgbClr val="EEF3F6"/>
      </a:lt2>
      <a:accent1>
        <a:srgbClr val="1F6F8B"/>
      </a:accent1>
      <a:accent2>
        <a:srgbClr val="E3A72F"/>
      </a:accent2>
      <a:accent3>
        <a:srgbClr val="2E9E83"/>
      </a:accent3>
      <a:accent4>
        <a:srgbClr val="C2553F"/>
      </a:accent4>
      <a:accent5>
        <a:srgbClr val="8796A8"/>
      </a:accent5>
      <a:accent6>
        <a:srgbClr val="5B4B8A"/>
      </a:accent6>
      <a:hlink>
        <a:srgbClr val="1F6F8B"/>
      </a:hlink>
      <a:folHlink>
        <a:srgbClr val="5B4B8A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the Ontario Loan Balance</dc:title>
  <dc:creator>Model development</dc:creator>
  <cp:keywords/>
  <dcterms:created xsi:type="dcterms:W3CDTF">2026-10-24T05:26:38Z</dcterms:created>
  <dcterms:modified xsi:type="dcterms:W3CDTF">2026-10-24T05:26:38Z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October 2026</vt:lpwstr>
  </property>
  <property fmtid="{D5CDD505-2E9C-101B-9397-08002B2CF9AE}" pid="6" name="date-format">
    <vt:lpwstr>MMMM 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jupyter">
    <vt:lpwstr>python3</vt:lpwstr>
  </property>
  <property fmtid="{D5CDD505-2E9C-101B-9397-08002B2CF9AE}" pid="12" name="labels">
    <vt:lpwstr/>
  </property>
  <property fmtid="{D5CDD505-2E9C-101B-9397-08002B2CF9AE}" pid="13" name="subtitle">
    <vt:lpwstr>An explainable macro model: methodology, model comparison and recommendation</vt:lpwstr>
  </property>
  <property fmtid="{D5CDD505-2E9C-101B-9397-08002B2CF9AE}" pid="14" name="toc-title">
    <vt:lpwstr>Table of contents</vt:lpwstr>
  </property>
</Properties>
</file>